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sldIdLst>
    <p:sldId id="256" r:id="rId2"/>
    <p:sldId id="257" r:id="rId3"/>
    <p:sldId id="258" r:id="rId4"/>
    <p:sldId id="259" r:id="rId5"/>
    <p:sldId id="260" r:id="rId6"/>
    <p:sldId id="261" r:id="rId7"/>
    <p:sldId id="262" r:id="rId8"/>
    <p:sldId id="264" r:id="rId9"/>
    <p:sldId id="263"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82"/>
    <p:restoredTop sz="94684"/>
  </p:normalViewPr>
  <p:slideViewPr>
    <p:cSldViewPr snapToGrid="0">
      <p:cViewPr>
        <p:scale>
          <a:sx n="103" d="100"/>
          <a:sy n="103" d="100"/>
        </p:scale>
        <p:origin x="1208"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hyperlink" Target="file:///Users/youssefbastawy/Desktop/BSAN360/Project/database_24_25.csv" TargetMode="Externa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hyperlink" Target="file:///Users/youssefbastawy/Desktop/BSAN360/Project/database_24_25.csv" TargetMode="External"/><Relationship Id="rId10" Type="http://schemas.openxmlformats.org/officeDocument/2006/relationships/image" Target="../media/image10.png"/><Relationship Id="rId4" Type="http://schemas.openxmlformats.org/officeDocument/2006/relationships/image" Target="../media/image5.svg"/><Relationship Id="rId9"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C1141F-EC29-44D7-917C-06943D15A33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C864DCE-1A4E-4C08-925D-E2C6871223FA}">
      <dgm:prSet/>
      <dgm:spPr/>
      <dgm:t>
        <a:bodyPr/>
        <a:lstStyle/>
        <a:p>
          <a:r>
            <a:rPr lang="en-US"/>
            <a:t>NBA team and player statistics (2024–2025 season)</a:t>
          </a:r>
        </a:p>
      </dgm:t>
    </dgm:pt>
    <dgm:pt modelId="{B3BB3064-CD3A-48F6-A60E-CB6DC9349E17}" type="parTrans" cxnId="{0798E7EE-091A-4A71-8D91-5C4C8A43F007}">
      <dgm:prSet/>
      <dgm:spPr/>
      <dgm:t>
        <a:bodyPr/>
        <a:lstStyle/>
        <a:p>
          <a:endParaRPr lang="en-US"/>
        </a:p>
      </dgm:t>
    </dgm:pt>
    <dgm:pt modelId="{4D938BB5-D117-4933-9CA5-0B32E7B43B67}" type="sibTrans" cxnId="{0798E7EE-091A-4A71-8D91-5C4C8A43F007}">
      <dgm:prSet/>
      <dgm:spPr/>
      <dgm:t>
        <a:bodyPr/>
        <a:lstStyle/>
        <a:p>
          <a:endParaRPr lang="en-US"/>
        </a:p>
      </dgm:t>
    </dgm:pt>
    <dgm:pt modelId="{797C581A-6FC3-4A0D-8BE6-7BA7FF1BCD53}">
      <dgm:prSet/>
      <dgm:spPr/>
      <dgm:t>
        <a:bodyPr/>
        <a:lstStyle/>
        <a:p>
          <a:r>
            <a:rPr lang="en-US"/>
            <a:t>Source: </a:t>
          </a:r>
          <a:r>
            <a:rPr lang="en-US" u="sng">
              <a:hlinkClick xmlns:r="http://schemas.openxmlformats.org/officeDocument/2006/relationships" r:id="rId1"/>
            </a:rPr>
            <a:t>database_24_25.csv</a:t>
          </a:r>
          <a:endParaRPr lang="en-US"/>
        </a:p>
      </dgm:t>
    </dgm:pt>
    <dgm:pt modelId="{FA5F27D9-02BD-4263-B6D7-3BC891A7DE26}" type="parTrans" cxnId="{C7C999DD-DCAA-4ED4-8AE5-9CF6AA765E3E}">
      <dgm:prSet/>
      <dgm:spPr/>
      <dgm:t>
        <a:bodyPr/>
        <a:lstStyle/>
        <a:p>
          <a:endParaRPr lang="en-US"/>
        </a:p>
      </dgm:t>
    </dgm:pt>
    <dgm:pt modelId="{47C9DD86-9A8D-4CA4-9ABB-A4A385098C4A}" type="sibTrans" cxnId="{C7C999DD-DCAA-4ED4-8AE5-9CF6AA765E3E}">
      <dgm:prSet/>
      <dgm:spPr/>
      <dgm:t>
        <a:bodyPr/>
        <a:lstStyle/>
        <a:p>
          <a:endParaRPr lang="en-US"/>
        </a:p>
      </dgm:t>
    </dgm:pt>
    <dgm:pt modelId="{21B7D378-1B33-4228-B790-07C454CC31BE}">
      <dgm:prSet/>
      <dgm:spPr/>
      <dgm:t>
        <a:bodyPr/>
        <a:lstStyle/>
        <a:p>
          <a:r>
            <a:rPr lang="en-US"/>
            <a:t>Observations: 4892</a:t>
          </a:r>
        </a:p>
      </dgm:t>
    </dgm:pt>
    <dgm:pt modelId="{D1A6AFB7-1924-45AB-9A92-662C36735962}" type="parTrans" cxnId="{F455DA7D-A3AE-4625-8430-CDE605AD77AB}">
      <dgm:prSet/>
      <dgm:spPr/>
      <dgm:t>
        <a:bodyPr/>
        <a:lstStyle/>
        <a:p>
          <a:endParaRPr lang="en-US"/>
        </a:p>
      </dgm:t>
    </dgm:pt>
    <dgm:pt modelId="{FA084108-5DBE-4CC5-81A6-EECB6E144FF2}" type="sibTrans" cxnId="{F455DA7D-A3AE-4625-8430-CDE605AD77AB}">
      <dgm:prSet/>
      <dgm:spPr/>
      <dgm:t>
        <a:bodyPr/>
        <a:lstStyle/>
        <a:p>
          <a:endParaRPr lang="en-US"/>
        </a:p>
      </dgm:t>
    </dgm:pt>
    <dgm:pt modelId="{27A37E67-5FF8-4D76-9520-0EC4D8E45225}">
      <dgm:prSet/>
      <dgm:spPr/>
      <dgm:t>
        <a:bodyPr/>
        <a:lstStyle/>
        <a:p>
          <a:r>
            <a:rPr lang="en-US"/>
            <a:t>Variables: 10</a:t>
          </a:r>
        </a:p>
      </dgm:t>
    </dgm:pt>
    <dgm:pt modelId="{5B9BAA43-0B4C-46A9-9840-BA99A1CD7605}" type="parTrans" cxnId="{429F570B-732B-4CAC-9BDB-7A80467AA230}">
      <dgm:prSet/>
      <dgm:spPr/>
      <dgm:t>
        <a:bodyPr/>
        <a:lstStyle/>
        <a:p>
          <a:endParaRPr lang="en-US"/>
        </a:p>
      </dgm:t>
    </dgm:pt>
    <dgm:pt modelId="{E61AAF12-EFC5-44F5-86BC-9EBFDBB2BF62}" type="sibTrans" cxnId="{429F570B-732B-4CAC-9BDB-7A80467AA230}">
      <dgm:prSet/>
      <dgm:spPr/>
      <dgm:t>
        <a:bodyPr/>
        <a:lstStyle/>
        <a:p>
          <a:endParaRPr lang="en-US"/>
        </a:p>
      </dgm:t>
    </dgm:pt>
    <dgm:pt modelId="{A38C9986-6B3B-4BA4-B58A-04A24A132A37}">
      <dgm:prSet/>
      <dgm:spPr/>
      <dgm:t>
        <a:bodyPr/>
        <a:lstStyle/>
        <a:p>
          <a:r>
            <a:rPr lang="en-US"/>
            <a:t>Unit of analysis: NBA teams/players</a:t>
          </a:r>
        </a:p>
      </dgm:t>
    </dgm:pt>
    <dgm:pt modelId="{A4F459E4-A667-4209-A190-389E3FB9E428}" type="parTrans" cxnId="{7C3F726B-0923-4472-ABB8-3659BCF3C9DD}">
      <dgm:prSet/>
      <dgm:spPr/>
      <dgm:t>
        <a:bodyPr/>
        <a:lstStyle/>
        <a:p>
          <a:endParaRPr lang="en-US"/>
        </a:p>
      </dgm:t>
    </dgm:pt>
    <dgm:pt modelId="{8F9B2327-9C17-4DF3-9105-1ECB95E2D804}" type="sibTrans" cxnId="{7C3F726B-0923-4472-ABB8-3659BCF3C9DD}">
      <dgm:prSet/>
      <dgm:spPr/>
      <dgm:t>
        <a:bodyPr/>
        <a:lstStyle/>
        <a:p>
          <a:endParaRPr lang="en-US"/>
        </a:p>
      </dgm:t>
    </dgm:pt>
    <dgm:pt modelId="{63F43D53-A03F-44DB-B3D8-C1DB713A2F85}" type="pres">
      <dgm:prSet presAssocID="{63C1141F-EC29-44D7-917C-06943D15A33E}" presName="root" presStyleCnt="0">
        <dgm:presLayoutVars>
          <dgm:dir/>
          <dgm:resizeHandles val="exact"/>
        </dgm:presLayoutVars>
      </dgm:prSet>
      <dgm:spPr/>
    </dgm:pt>
    <dgm:pt modelId="{F6B84752-0DEE-45EE-A20E-C84A85ACAE60}" type="pres">
      <dgm:prSet presAssocID="{9C864DCE-1A4E-4C08-925D-E2C6871223FA}" presName="compNode" presStyleCnt="0"/>
      <dgm:spPr/>
    </dgm:pt>
    <dgm:pt modelId="{C4B8B1EB-A81D-41BE-AB41-99C1C3E4AE9A}" type="pres">
      <dgm:prSet presAssocID="{9C864DCE-1A4E-4C08-925D-E2C6871223FA}" presName="bgRect" presStyleLbl="bgShp" presStyleIdx="0" presStyleCnt="5"/>
      <dgm:spPr/>
    </dgm:pt>
    <dgm:pt modelId="{508EF868-CDDA-4A40-8BD6-274C0FA22E7A}" type="pres">
      <dgm:prSet presAssocID="{9C864DCE-1A4E-4C08-925D-E2C6871223FA}" presName="iconRect" presStyleLbl="node1" presStyleIdx="0" presStyleCnt="5"/>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sketball"/>
        </a:ext>
      </dgm:extLst>
    </dgm:pt>
    <dgm:pt modelId="{82CB7D80-E49C-47DA-A187-1B8A12830247}" type="pres">
      <dgm:prSet presAssocID="{9C864DCE-1A4E-4C08-925D-E2C6871223FA}" presName="spaceRect" presStyleCnt="0"/>
      <dgm:spPr/>
    </dgm:pt>
    <dgm:pt modelId="{FA344D89-A2E6-405A-B634-27A98F8931A3}" type="pres">
      <dgm:prSet presAssocID="{9C864DCE-1A4E-4C08-925D-E2C6871223FA}" presName="parTx" presStyleLbl="revTx" presStyleIdx="0" presStyleCnt="5">
        <dgm:presLayoutVars>
          <dgm:chMax val="0"/>
          <dgm:chPref val="0"/>
        </dgm:presLayoutVars>
      </dgm:prSet>
      <dgm:spPr/>
    </dgm:pt>
    <dgm:pt modelId="{C7CE535B-429D-4A00-B0C8-EAEAB9E10FB3}" type="pres">
      <dgm:prSet presAssocID="{4D938BB5-D117-4933-9CA5-0B32E7B43B67}" presName="sibTrans" presStyleCnt="0"/>
      <dgm:spPr/>
    </dgm:pt>
    <dgm:pt modelId="{C968A7DB-58D8-45AF-B560-F83E3162AE28}" type="pres">
      <dgm:prSet presAssocID="{797C581A-6FC3-4A0D-8BE6-7BA7FF1BCD53}" presName="compNode" presStyleCnt="0"/>
      <dgm:spPr/>
    </dgm:pt>
    <dgm:pt modelId="{12ADC4AA-8060-42E5-BE3B-08D897CBBDF3}" type="pres">
      <dgm:prSet presAssocID="{797C581A-6FC3-4A0D-8BE6-7BA7FF1BCD53}" presName="bgRect" presStyleLbl="bgShp" presStyleIdx="1" presStyleCnt="5"/>
      <dgm:spPr/>
    </dgm:pt>
    <dgm:pt modelId="{56AD4442-63C0-4787-B262-6E0190C94E62}" type="pres">
      <dgm:prSet presAssocID="{797C581A-6FC3-4A0D-8BE6-7BA7FF1BCD53}" presName="iconRect" presStyleLbl="node1" presStyleIdx="1" presStyleCnt="5"/>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Newspaper"/>
        </a:ext>
      </dgm:extLst>
    </dgm:pt>
    <dgm:pt modelId="{B476500F-CECB-4D4F-9237-D6A23B8ACB77}" type="pres">
      <dgm:prSet presAssocID="{797C581A-6FC3-4A0D-8BE6-7BA7FF1BCD53}" presName="spaceRect" presStyleCnt="0"/>
      <dgm:spPr/>
    </dgm:pt>
    <dgm:pt modelId="{CBC62FD4-C5B3-426F-AF03-DE7D2123888F}" type="pres">
      <dgm:prSet presAssocID="{797C581A-6FC3-4A0D-8BE6-7BA7FF1BCD53}" presName="parTx" presStyleLbl="revTx" presStyleIdx="1" presStyleCnt="5">
        <dgm:presLayoutVars>
          <dgm:chMax val="0"/>
          <dgm:chPref val="0"/>
        </dgm:presLayoutVars>
      </dgm:prSet>
      <dgm:spPr/>
    </dgm:pt>
    <dgm:pt modelId="{21E357D5-8CAC-452C-B9D3-4F581B45A17D}" type="pres">
      <dgm:prSet presAssocID="{47C9DD86-9A8D-4CA4-9ABB-A4A385098C4A}" presName="sibTrans" presStyleCnt="0"/>
      <dgm:spPr/>
    </dgm:pt>
    <dgm:pt modelId="{FC160093-B638-49E7-B2D9-FDB14F247A9B}" type="pres">
      <dgm:prSet presAssocID="{21B7D378-1B33-4228-B790-07C454CC31BE}" presName="compNode" presStyleCnt="0"/>
      <dgm:spPr/>
    </dgm:pt>
    <dgm:pt modelId="{C6FE5BD2-35E1-4479-BB7D-0EF977A90D8C}" type="pres">
      <dgm:prSet presAssocID="{21B7D378-1B33-4228-B790-07C454CC31BE}" presName="bgRect" presStyleLbl="bgShp" presStyleIdx="2" presStyleCnt="5"/>
      <dgm:spPr/>
    </dgm:pt>
    <dgm:pt modelId="{DEF746DF-BD97-4868-ACD4-FA795BBD1743}" type="pres">
      <dgm:prSet presAssocID="{21B7D378-1B33-4228-B790-07C454CC31BE}" presName="iconRect" presStyleLbl="node1" presStyleIdx="2" presStyleCnt="5"/>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Eye"/>
        </a:ext>
      </dgm:extLst>
    </dgm:pt>
    <dgm:pt modelId="{B88D16C3-C326-4D30-AA81-9D7B2168D09C}" type="pres">
      <dgm:prSet presAssocID="{21B7D378-1B33-4228-B790-07C454CC31BE}" presName="spaceRect" presStyleCnt="0"/>
      <dgm:spPr/>
    </dgm:pt>
    <dgm:pt modelId="{8955E78B-9DC7-4615-84AC-5BEC8FD16222}" type="pres">
      <dgm:prSet presAssocID="{21B7D378-1B33-4228-B790-07C454CC31BE}" presName="parTx" presStyleLbl="revTx" presStyleIdx="2" presStyleCnt="5">
        <dgm:presLayoutVars>
          <dgm:chMax val="0"/>
          <dgm:chPref val="0"/>
        </dgm:presLayoutVars>
      </dgm:prSet>
      <dgm:spPr/>
    </dgm:pt>
    <dgm:pt modelId="{A702B9E4-4DC9-4C49-AA74-DF251E7E3AD0}" type="pres">
      <dgm:prSet presAssocID="{FA084108-5DBE-4CC5-81A6-EECB6E144FF2}" presName="sibTrans" presStyleCnt="0"/>
      <dgm:spPr/>
    </dgm:pt>
    <dgm:pt modelId="{DD368290-8B95-4406-9909-58F98E7F1724}" type="pres">
      <dgm:prSet presAssocID="{27A37E67-5FF8-4D76-9520-0EC4D8E45225}" presName="compNode" presStyleCnt="0"/>
      <dgm:spPr/>
    </dgm:pt>
    <dgm:pt modelId="{AFE6C281-96FB-4B7C-AAC2-50F142AB7202}" type="pres">
      <dgm:prSet presAssocID="{27A37E67-5FF8-4D76-9520-0EC4D8E45225}" presName="bgRect" presStyleLbl="bgShp" presStyleIdx="3" presStyleCnt="5"/>
      <dgm:spPr/>
    </dgm:pt>
    <dgm:pt modelId="{7AE39248-9BED-4120-A0C2-5B40CF04D764}" type="pres">
      <dgm:prSet presAssocID="{27A37E67-5FF8-4D76-9520-0EC4D8E45225}" presName="iconRect" presStyleLbl="node1" presStyleIdx="3" presStyleCnt="5"/>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Document"/>
        </a:ext>
      </dgm:extLst>
    </dgm:pt>
    <dgm:pt modelId="{44D9322F-0449-4846-8E62-D10CC676E305}" type="pres">
      <dgm:prSet presAssocID="{27A37E67-5FF8-4D76-9520-0EC4D8E45225}" presName="spaceRect" presStyleCnt="0"/>
      <dgm:spPr/>
    </dgm:pt>
    <dgm:pt modelId="{61EB5884-2C96-43BB-8350-49F7B8C51EA4}" type="pres">
      <dgm:prSet presAssocID="{27A37E67-5FF8-4D76-9520-0EC4D8E45225}" presName="parTx" presStyleLbl="revTx" presStyleIdx="3" presStyleCnt="5">
        <dgm:presLayoutVars>
          <dgm:chMax val="0"/>
          <dgm:chPref val="0"/>
        </dgm:presLayoutVars>
      </dgm:prSet>
      <dgm:spPr/>
    </dgm:pt>
    <dgm:pt modelId="{321556E6-D96B-4999-B9B9-E13657C3C324}" type="pres">
      <dgm:prSet presAssocID="{E61AAF12-EFC5-44F5-86BC-9EBFDBB2BF62}" presName="sibTrans" presStyleCnt="0"/>
      <dgm:spPr/>
    </dgm:pt>
    <dgm:pt modelId="{AFE83115-951A-486C-9936-F8E36DF2493A}" type="pres">
      <dgm:prSet presAssocID="{A38C9986-6B3B-4BA4-B58A-04A24A132A37}" presName="compNode" presStyleCnt="0"/>
      <dgm:spPr/>
    </dgm:pt>
    <dgm:pt modelId="{87D847A3-F4AF-4642-A57B-94D45F4C6767}" type="pres">
      <dgm:prSet presAssocID="{A38C9986-6B3B-4BA4-B58A-04A24A132A37}" presName="bgRect" presStyleLbl="bgShp" presStyleIdx="4" presStyleCnt="5"/>
      <dgm:spPr/>
    </dgm:pt>
    <dgm:pt modelId="{03735BDD-8FE5-471A-BBCC-433C242EF0BC}" type="pres">
      <dgm:prSet presAssocID="{A38C9986-6B3B-4BA4-B58A-04A24A132A37}" presName="iconRect" presStyleLbl="node1" presStyleIdx="4" presStyleCnt="5"/>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dgm:spPr>
      <dgm:extLst>
        <a:ext uri="{E40237B7-FDA0-4F09-8148-C483321AD2D9}">
          <dgm14:cNvPr xmlns:dgm14="http://schemas.microsoft.com/office/drawing/2010/diagram" id="0" name="" descr="Sport Balls"/>
        </a:ext>
      </dgm:extLst>
    </dgm:pt>
    <dgm:pt modelId="{A98C65B8-3753-4120-AE4D-D4AA8934B9EB}" type="pres">
      <dgm:prSet presAssocID="{A38C9986-6B3B-4BA4-B58A-04A24A132A37}" presName="spaceRect" presStyleCnt="0"/>
      <dgm:spPr/>
    </dgm:pt>
    <dgm:pt modelId="{6F6EB28D-1059-4CB0-B86D-7B52057C87FF}" type="pres">
      <dgm:prSet presAssocID="{A38C9986-6B3B-4BA4-B58A-04A24A132A37}" presName="parTx" presStyleLbl="revTx" presStyleIdx="4" presStyleCnt="5">
        <dgm:presLayoutVars>
          <dgm:chMax val="0"/>
          <dgm:chPref val="0"/>
        </dgm:presLayoutVars>
      </dgm:prSet>
      <dgm:spPr/>
    </dgm:pt>
  </dgm:ptLst>
  <dgm:cxnLst>
    <dgm:cxn modelId="{429F570B-732B-4CAC-9BDB-7A80467AA230}" srcId="{63C1141F-EC29-44D7-917C-06943D15A33E}" destId="{27A37E67-5FF8-4D76-9520-0EC4D8E45225}" srcOrd="3" destOrd="0" parTransId="{5B9BAA43-0B4C-46A9-9840-BA99A1CD7605}" sibTransId="{E61AAF12-EFC5-44F5-86BC-9EBFDBB2BF62}"/>
    <dgm:cxn modelId="{53DDC91B-C940-45EE-B4CA-5B62B4DF1E4A}" type="presOf" srcId="{9C864DCE-1A4E-4C08-925D-E2C6871223FA}" destId="{FA344D89-A2E6-405A-B634-27A98F8931A3}" srcOrd="0" destOrd="0" presId="urn:microsoft.com/office/officeart/2018/2/layout/IconVerticalSolidList"/>
    <dgm:cxn modelId="{2D521365-E92F-4A24-B498-1BCB4BB0FF7A}" type="presOf" srcId="{797C581A-6FC3-4A0D-8BE6-7BA7FF1BCD53}" destId="{CBC62FD4-C5B3-426F-AF03-DE7D2123888F}" srcOrd="0" destOrd="0" presId="urn:microsoft.com/office/officeart/2018/2/layout/IconVerticalSolidList"/>
    <dgm:cxn modelId="{7C3F726B-0923-4472-ABB8-3659BCF3C9DD}" srcId="{63C1141F-EC29-44D7-917C-06943D15A33E}" destId="{A38C9986-6B3B-4BA4-B58A-04A24A132A37}" srcOrd="4" destOrd="0" parTransId="{A4F459E4-A667-4209-A190-389E3FB9E428}" sibTransId="{8F9B2327-9C17-4DF3-9105-1ECB95E2D804}"/>
    <dgm:cxn modelId="{CDF1AF7D-1BED-4550-9E0B-47219F2023B3}" type="presOf" srcId="{63C1141F-EC29-44D7-917C-06943D15A33E}" destId="{63F43D53-A03F-44DB-B3D8-C1DB713A2F85}" srcOrd="0" destOrd="0" presId="urn:microsoft.com/office/officeart/2018/2/layout/IconVerticalSolidList"/>
    <dgm:cxn modelId="{F455DA7D-A3AE-4625-8430-CDE605AD77AB}" srcId="{63C1141F-EC29-44D7-917C-06943D15A33E}" destId="{21B7D378-1B33-4228-B790-07C454CC31BE}" srcOrd="2" destOrd="0" parTransId="{D1A6AFB7-1924-45AB-9A92-662C36735962}" sibTransId="{FA084108-5DBE-4CC5-81A6-EECB6E144FF2}"/>
    <dgm:cxn modelId="{7C83618B-584D-440E-B368-6948A8EA1818}" type="presOf" srcId="{A38C9986-6B3B-4BA4-B58A-04A24A132A37}" destId="{6F6EB28D-1059-4CB0-B86D-7B52057C87FF}" srcOrd="0" destOrd="0" presId="urn:microsoft.com/office/officeart/2018/2/layout/IconVerticalSolidList"/>
    <dgm:cxn modelId="{03E038BD-EBED-4816-A399-0A4E6B9DA0D3}" type="presOf" srcId="{21B7D378-1B33-4228-B790-07C454CC31BE}" destId="{8955E78B-9DC7-4615-84AC-5BEC8FD16222}" srcOrd="0" destOrd="0" presId="urn:microsoft.com/office/officeart/2018/2/layout/IconVerticalSolidList"/>
    <dgm:cxn modelId="{B364D2C2-9A8F-4BC8-842F-45C8320ACEB0}" type="presOf" srcId="{27A37E67-5FF8-4D76-9520-0EC4D8E45225}" destId="{61EB5884-2C96-43BB-8350-49F7B8C51EA4}" srcOrd="0" destOrd="0" presId="urn:microsoft.com/office/officeart/2018/2/layout/IconVerticalSolidList"/>
    <dgm:cxn modelId="{C7C999DD-DCAA-4ED4-8AE5-9CF6AA765E3E}" srcId="{63C1141F-EC29-44D7-917C-06943D15A33E}" destId="{797C581A-6FC3-4A0D-8BE6-7BA7FF1BCD53}" srcOrd="1" destOrd="0" parTransId="{FA5F27D9-02BD-4263-B6D7-3BC891A7DE26}" sibTransId="{47C9DD86-9A8D-4CA4-9ABB-A4A385098C4A}"/>
    <dgm:cxn modelId="{0798E7EE-091A-4A71-8D91-5C4C8A43F007}" srcId="{63C1141F-EC29-44D7-917C-06943D15A33E}" destId="{9C864DCE-1A4E-4C08-925D-E2C6871223FA}" srcOrd="0" destOrd="0" parTransId="{B3BB3064-CD3A-48F6-A60E-CB6DC9349E17}" sibTransId="{4D938BB5-D117-4933-9CA5-0B32E7B43B67}"/>
    <dgm:cxn modelId="{33334DE6-CB4E-4BAC-9D26-51E94548FD62}" type="presParOf" srcId="{63F43D53-A03F-44DB-B3D8-C1DB713A2F85}" destId="{F6B84752-0DEE-45EE-A20E-C84A85ACAE60}" srcOrd="0" destOrd="0" presId="urn:microsoft.com/office/officeart/2018/2/layout/IconVerticalSolidList"/>
    <dgm:cxn modelId="{B2A3E32C-36AD-434B-9FE8-5AE3D33C7117}" type="presParOf" srcId="{F6B84752-0DEE-45EE-A20E-C84A85ACAE60}" destId="{C4B8B1EB-A81D-41BE-AB41-99C1C3E4AE9A}" srcOrd="0" destOrd="0" presId="urn:microsoft.com/office/officeart/2018/2/layout/IconVerticalSolidList"/>
    <dgm:cxn modelId="{B69FD4DA-75D4-4D6A-8090-F3C882AD6D6A}" type="presParOf" srcId="{F6B84752-0DEE-45EE-A20E-C84A85ACAE60}" destId="{508EF868-CDDA-4A40-8BD6-274C0FA22E7A}" srcOrd="1" destOrd="0" presId="urn:microsoft.com/office/officeart/2018/2/layout/IconVerticalSolidList"/>
    <dgm:cxn modelId="{C8BE2811-2DD7-434B-8159-851DC558926A}" type="presParOf" srcId="{F6B84752-0DEE-45EE-A20E-C84A85ACAE60}" destId="{82CB7D80-E49C-47DA-A187-1B8A12830247}" srcOrd="2" destOrd="0" presId="urn:microsoft.com/office/officeart/2018/2/layout/IconVerticalSolidList"/>
    <dgm:cxn modelId="{B6AD2324-A889-400A-9FFC-1E46372BA3C2}" type="presParOf" srcId="{F6B84752-0DEE-45EE-A20E-C84A85ACAE60}" destId="{FA344D89-A2E6-405A-B634-27A98F8931A3}" srcOrd="3" destOrd="0" presId="urn:microsoft.com/office/officeart/2018/2/layout/IconVerticalSolidList"/>
    <dgm:cxn modelId="{8232D7DB-7F6D-43F3-B9E3-9CE96E9044FE}" type="presParOf" srcId="{63F43D53-A03F-44DB-B3D8-C1DB713A2F85}" destId="{C7CE535B-429D-4A00-B0C8-EAEAB9E10FB3}" srcOrd="1" destOrd="0" presId="urn:microsoft.com/office/officeart/2018/2/layout/IconVerticalSolidList"/>
    <dgm:cxn modelId="{A797F373-F455-4250-811F-80A0A9E3362D}" type="presParOf" srcId="{63F43D53-A03F-44DB-B3D8-C1DB713A2F85}" destId="{C968A7DB-58D8-45AF-B560-F83E3162AE28}" srcOrd="2" destOrd="0" presId="urn:microsoft.com/office/officeart/2018/2/layout/IconVerticalSolidList"/>
    <dgm:cxn modelId="{E4375CC7-E079-407F-BA5D-718AD3E2B8B5}" type="presParOf" srcId="{C968A7DB-58D8-45AF-B560-F83E3162AE28}" destId="{12ADC4AA-8060-42E5-BE3B-08D897CBBDF3}" srcOrd="0" destOrd="0" presId="urn:microsoft.com/office/officeart/2018/2/layout/IconVerticalSolidList"/>
    <dgm:cxn modelId="{17D87971-E33E-48A3-B719-E82D67AB6B7A}" type="presParOf" srcId="{C968A7DB-58D8-45AF-B560-F83E3162AE28}" destId="{56AD4442-63C0-4787-B262-6E0190C94E62}" srcOrd="1" destOrd="0" presId="urn:microsoft.com/office/officeart/2018/2/layout/IconVerticalSolidList"/>
    <dgm:cxn modelId="{F7AA3D9D-BB3B-4DCA-AD36-ED710BDD102E}" type="presParOf" srcId="{C968A7DB-58D8-45AF-B560-F83E3162AE28}" destId="{B476500F-CECB-4D4F-9237-D6A23B8ACB77}" srcOrd="2" destOrd="0" presId="urn:microsoft.com/office/officeart/2018/2/layout/IconVerticalSolidList"/>
    <dgm:cxn modelId="{349E28F0-C4E2-4A46-9A4F-1874E47FA2FB}" type="presParOf" srcId="{C968A7DB-58D8-45AF-B560-F83E3162AE28}" destId="{CBC62FD4-C5B3-426F-AF03-DE7D2123888F}" srcOrd="3" destOrd="0" presId="urn:microsoft.com/office/officeart/2018/2/layout/IconVerticalSolidList"/>
    <dgm:cxn modelId="{E8351A9D-A008-4B25-BEBE-F13AD9C2D537}" type="presParOf" srcId="{63F43D53-A03F-44DB-B3D8-C1DB713A2F85}" destId="{21E357D5-8CAC-452C-B9D3-4F581B45A17D}" srcOrd="3" destOrd="0" presId="urn:microsoft.com/office/officeart/2018/2/layout/IconVerticalSolidList"/>
    <dgm:cxn modelId="{B8C9B575-55B9-47A7-98CC-956BE4167374}" type="presParOf" srcId="{63F43D53-A03F-44DB-B3D8-C1DB713A2F85}" destId="{FC160093-B638-49E7-B2D9-FDB14F247A9B}" srcOrd="4" destOrd="0" presId="urn:microsoft.com/office/officeart/2018/2/layout/IconVerticalSolidList"/>
    <dgm:cxn modelId="{098A544B-1133-4ADC-9B43-3C13A1299DC2}" type="presParOf" srcId="{FC160093-B638-49E7-B2D9-FDB14F247A9B}" destId="{C6FE5BD2-35E1-4479-BB7D-0EF977A90D8C}" srcOrd="0" destOrd="0" presId="urn:microsoft.com/office/officeart/2018/2/layout/IconVerticalSolidList"/>
    <dgm:cxn modelId="{5D58BF22-6671-4C79-B077-8BA70A1067B2}" type="presParOf" srcId="{FC160093-B638-49E7-B2D9-FDB14F247A9B}" destId="{DEF746DF-BD97-4868-ACD4-FA795BBD1743}" srcOrd="1" destOrd="0" presId="urn:microsoft.com/office/officeart/2018/2/layout/IconVerticalSolidList"/>
    <dgm:cxn modelId="{961AF6FE-B993-4837-99DB-0397E3DE0279}" type="presParOf" srcId="{FC160093-B638-49E7-B2D9-FDB14F247A9B}" destId="{B88D16C3-C326-4D30-AA81-9D7B2168D09C}" srcOrd="2" destOrd="0" presId="urn:microsoft.com/office/officeart/2018/2/layout/IconVerticalSolidList"/>
    <dgm:cxn modelId="{C6146EF9-8243-41D6-B828-618C3CCDE58E}" type="presParOf" srcId="{FC160093-B638-49E7-B2D9-FDB14F247A9B}" destId="{8955E78B-9DC7-4615-84AC-5BEC8FD16222}" srcOrd="3" destOrd="0" presId="urn:microsoft.com/office/officeart/2018/2/layout/IconVerticalSolidList"/>
    <dgm:cxn modelId="{2A001734-0096-4CFA-818E-165FB8454E79}" type="presParOf" srcId="{63F43D53-A03F-44DB-B3D8-C1DB713A2F85}" destId="{A702B9E4-4DC9-4C49-AA74-DF251E7E3AD0}" srcOrd="5" destOrd="0" presId="urn:microsoft.com/office/officeart/2018/2/layout/IconVerticalSolidList"/>
    <dgm:cxn modelId="{E732562E-604B-41C2-BD38-9593DE5A694B}" type="presParOf" srcId="{63F43D53-A03F-44DB-B3D8-C1DB713A2F85}" destId="{DD368290-8B95-4406-9909-58F98E7F1724}" srcOrd="6" destOrd="0" presId="urn:microsoft.com/office/officeart/2018/2/layout/IconVerticalSolidList"/>
    <dgm:cxn modelId="{497A2DBC-75F3-4402-A848-07698CE68A51}" type="presParOf" srcId="{DD368290-8B95-4406-9909-58F98E7F1724}" destId="{AFE6C281-96FB-4B7C-AAC2-50F142AB7202}" srcOrd="0" destOrd="0" presId="urn:microsoft.com/office/officeart/2018/2/layout/IconVerticalSolidList"/>
    <dgm:cxn modelId="{CB81C6D6-AE4E-4FF3-94DF-277F38FCB1AC}" type="presParOf" srcId="{DD368290-8B95-4406-9909-58F98E7F1724}" destId="{7AE39248-9BED-4120-A0C2-5B40CF04D764}" srcOrd="1" destOrd="0" presId="urn:microsoft.com/office/officeart/2018/2/layout/IconVerticalSolidList"/>
    <dgm:cxn modelId="{E458F9E1-7CBC-4867-8388-CC35E507E3F2}" type="presParOf" srcId="{DD368290-8B95-4406-9909-58F98E7F1724}" destId="{44D9322F-0449-4846-8E62-D10CC676E305}" srcOrd="2" destOrd="0" presId="urn:microsoft.com/office/officeart/2018/2/layout/IconVerticalSolidList"/>
    <dgm:cxn modelId="{211923F2-E54E-45A3-A8B6-27160F1D2A08}" type="presParOf" srcId="{DD368290-8B95-4406-9909-58F98E7F1724}" destId="{61EB5884-2C96-43BB-8350-49F7B8C51EA4}" srcOrd="3" destOrd="0" presId="urn:microsoft.com/office/officeart/2018/2/layout/IconVerticalSolidList"/>
    <dgm:cxn modelId="{064BC6AD-0225-4333-9ECD-A351FBF8E585}" type="presParOf" srcId="{63F43D53-A03F-44DB-B3D8-C1DB713A2F85}" destId="{321556E6-D96B-4999-B9B9-E13657C3C324}" srcOrd="7" destOrd="0" presId="urn:microsoft.com/office/officeart/2018/2/layout/IconVerticalSolidList"/>
    <dgm:cxn modelId="{019F714B-1863-47AA-9E08-E3EC95BBEC3A}" type="presParOf" srcId="{63F43D53-A03F-44DB-B3D8-C1DB713A2F85}" destId="{AFE83115-951A-486C-9936-F8E36DF2493A}" srcOrd="8" destOrd="0" presId="urn:microsoft.com/office/officeart/2018/2/layout/IconVerticalSolidList"/>
    <dgm:cxn modelId="{D41C29C2-0D33-41CD-961E-4F4C98598E18}" type="presParOf" srcId="{AFE83115-951A-486C-9936-F8E36DF2493A}" destId="{87D847A3-F4AF-4642-A57B-94D45F4C6767}" srcOrd="0" destOrd="0" presId="urn:microsoft.com/office/officeart/2018/2/layout/IconVerticalSolidList"/>
    <dgm:cxn modelId="{979FEA85-311A-46E2-918E-4938AFB6B2B1}" type="presParOf" srcId="{AFE83115-951A-486C-9936-F8E36DF2493A}" destId="{03735BDD-8FE5-471A-BBCC-433C242EF0BC}" srcOrd="1" destOrd="0" presId="urn:microsoft.com/office/officeart/2018/2/layout/IconVerticalSolidList"/>
    <dgm:cxn modelId="{0F49BBFA-E96B-4876-80C0-DCC4D74B40D2}" type="presParOf" srcId="{AFE83115-951A-486C-9936-F8E36DF2493A}" destId="{A98C65B8-3753-4120-AE4D-D4AA8934B9EB}" srcOrd="2" destOrd="0" presId="urn:microsoft.com/office/officeart/2018/2/layout/IconVerticalSolidList"/>
    <dgm:cxn modelId="{975BD384-0856-442D-AD5B-0759FD650E87}" type="presParOf" srcId="{AFE83115-951A-486C-9936-F8E36DF2493A}" destId="{6F6EB28D-1059-4CB0-B86D-7B52057C87F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F11E2D-E829-4A91-87AB-D89012B0FDF5}"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655B524-B5A8-46FD-B08E-D32244D211AC}">
      <dgm:prSet/>
      <dgm:spPr/>
      <dgm:t>
        <a:bodyPr/>
        <a:lstStyle/>
        <a:p>
          <a:r>
            <a:rPr lang="en-US" b="1"/>
            <a:t>Outcome Variable:</a:t>
          </a:r>
          <a:endParaRPr lang="en-US"/>
        </a:p>
      </dgm:t>
    </dgm:pt>
    <dgm:pt modelId="{F397C317-AEF1-4BFC-8FF3-F4F1EDD03A0A}" type="parTrans" cxnId="{D0176EA9-54C3-441E-935E-4A60AEE163A8}">
      <dgm:prSet/>
      <dgm:spPr/>
      <dgm:t>
        <a:bodyPr/>
        <a:lstStyle/>
        <a:p>
          <a:endParaRPr lang="en-US"/>
        </a:p>
      </dgm:t>
    </dgm:pt>
    <dgm:pt modelId="{82FC0393-8C04-44C3-936D-795D2C18545C}" type="sibTrans" cxnId="{D0176EA9-54C3-441E-935E-4A60AEE163A8}">
      <dgm:prSet/>
      <dgm:spPr/>
      <dgm:t>
        <a:bodyPr/>
        <a:lstStyle/>
        <a:p>
          <a:endParaRPr lang="en-US"/>
        </a:p>
      </dgm:t>
    </dgm:pt>
    <dgm:pt modelId="{8FCA90F7-969F-4AF3-9AF6-8AAC468C528B}">
      <dgm:prSet/>
      <dgm:spPr/>
      <dgm:t>
        <a:bodyPr/>
        <a:lstStyle/>
        <a:p>
          <a:r>
            <a:rPr lang="en-US" dirty="0"/>
            <a:t>Team Success (Wins)</a:t>
          </a:r>
        </a:p>
      </dgm:t>
    </dgm:pt>
    <dgm:pt modelId="{443923F7-64F7-4E97-B4DD-E8187D4C7468}" type="parTrans" cxnId="{0FA43EF1-3AF7-405D-B507-E4AD842BD489}">
      <dgm:prSet/>
      <dgm:spPr/>
      <dgm:t>
        <a:bodyPr/>
        <a:lstStyle/>
        <a:p>
          <a:endParaRPr lang="en-US"/>
        </a:p>
      </dgm:t>
    </dgm:pt>
    <dgm:pt modelId="{D786B09B-BA5B-4CC7-8B78-1A8F25AF3263}" type="sibTrans" cxnId="{0FA43EF1-3AF7-405D-B507-E4AD842BD489}">
      <dgm:prSet/>
      <dgm:spPr/>
      <dgm:t>
        <a:bodyPr/>
        <a:lstStyle/>
        <a:p>
          <a:endParaRPr lang="en-US"/>
        </a:p>
      </dgm:t>
    </dgm:pt>
    <dgm:pt modelId="{001FCBD1-0BD4-7A4A-89A9-FBDEE4D098EF}" type="pres">
      <dgm:prSet presAssocID="{E2F11E2D-E829-4A91-87AB-D89012B0FDF5}" presName="hierChild1" presStyleCnt="0">
        <dgm:presLayoutVars>
          <dgm:chPref val="1"/>
          <dgm:dir/>
          <dgm:animOne val="branch"/>
          <dgm:animLvl val="lvl"/>
          <dgm:resizeHandles/>
        </dgm:presLayoutVars>
      </dgm:prSet>
      <dgm:spPr/>
    </dgm:pt>
    <dgm:pt modelId="{1AF00A81-5730-EF48-AAD7-B99F034D07D9}" type="pres">
      <dgm:prSet presAssocID="{1655B524-B5A8-46FD-B08E-D32244D211AC}" presName="hierRoot1" presStyleCnt="0"/>
      <dgm:spPr/>
    </dgm:pt>
    <dgm:pt modelId="{C788C989-C088-974A-94F7-FF4C5F1529E5}" type="pres">
      <dgm:prSet presAssocID="{1655B524-B5A8-46FD-B08E-D32244D211AC}" presName="composite" presStyleCnt="0"/>
      <dgm:spPr/>
    </dgm:pt>
    <dgm:pt modelId="{A4B685DE-FB9E-074C-BDBC-F65A78BA7DC8}" type="pres">
      <dgm:prSet presAssocID="{1655B524-B5A8-46FD-B08E-D32244D211AC}" presName="background" presStyleLbl="node0" presStyleIdx="0" presStyleCnt="2"/>
      <dgm:spPr/>
    </dgm:pt>
    <dgm:pt modelId="{D7233513-81D6-4F44-B57E-E96A50F7343D}" type="pres">
      <dgm:prSet presAssocID="{1655B524-B5A8-46FD-B08E-D32244D211AC}" presName="text" presStyleLbl="fgAcc0" presStyleIdx="0" presStyleCnt="2">
        <dgm:presLayoutVars>
          <dgm:chPref val="3"/>
        </dgm:presLayoutVars>
      </dgm:prSet>
      <dgm:spPr/>
    </dgm:pt>
    <dgm:pt modelId="{0C742C4C-D812-5F40-AEB3-C845F500B9FF}" type="pres">
      <dgm:prSet presAssocID="{1655B524-B5A8-46FD-B08E-D32244D211AC}" presName="hierChild2" presStyleCnt="0"/>
      <dgm:spPr/>
    </dgm:pt>
    <dgm:pt modelId="{5DD64936-9214-EC46-B19E-996E67F33043}" type="pres">
      <dgm:prSet presAssocID="{8FCA90F7-969F-4AF3-9AF6-8AAC468C528B}" presName="hierRoot1" presStyleCnt="0"/>
      <dgm:spPr/>
    </dgm:pt>
    <dgm:pt modelId="{17325259-7D48-7447-BFB0-538FFAE4564D}" type="pres">
      <dgm:prSet presAssocID="{8FCA90F7-969F-4AF3-9AF6-8AAC468C528B}" presName="composite" presStyleCnt="0"/>
      <dgm:spPr/>
    </dgm:pt>
    <dgm:pt modelId="{1E12477C-4E2B-B442-A820-1342471640C9}" type="pres">
      <dgm:prSet presAssocID="{8FCA90F7-969F-4AF3-9AF6-8AAC468C528B}" presName="background" presStyleLbl="node0" presStyleIdx="1" presStyleCnt="2"/>
      <dgm:spPr/>
    </dgm:pt>
    <dgm:pt modelId="{34F5F2B5-1763-7849-86BE-9F2598512273}" type="pres">
      <dgm:prSet presAssocID="{8FCA90F7-969F-4AF3-9AF6-8AAC468C528B}" presName="text" presStyleLbl="fgAcc0" presStyleIdx="1" presStyleCnt="2">
        <dgm:presLayoutVars>
          <dgm:chPref val="3"/>
        </dgm:presLayoutVars>
      </dgm:prSet>
      <dgm:spPr/>
    </dgm:pt>
    <dgm:pt modelId="{D07EC7FF-B7BD-734F-BFB0-5138DF1DB499}" type="pres">
      <dgm:prSet presAssocID="{8FCA90F7-969F-4AF3-9AF6-8AAC468C528B}" presName="hierChild2" presStyleCnt="0"/>
      <dgm:spPr/>
    </dgm:pt>
  </dgm:ptLst>
  <dgm:cxnLst>
    <dgm:cxn modelId="{6BC37E3B-B746-C248-892F-99E4C521EE65}" type="presOf" srcId="{8FCA90F7-969F-4AF3-9AF6-8AAC468C528B}" destId="{34F5F2B5-1763-7849-86BE-9F2598512273}" srcOrd="0" destOrd="0" presId="urn:microsoft.com/office/officeart/2005/8/layout/hierarchy1"/>
    <dgm:cxn modelId="{EE5AE560-AD4E-5844-9DA0-F30B5B452558}" type="presOf" srcId="{E2F11E2D-E829-4A91-87AB-D89012B0FDF5}" destId="{001FCBD1-0BD4-7A4A-89A9-FBDEE4D098EF}" srcOrd="0" destOrd="0" presId="urn:microsoft.com/office/officeart/2005/8/layout/hierarchy1"/>
    <dgm:cxn modelId="{B2AF8369-BC18-4A49-A685-0069D808DE3A}" type="presOf" srcId="{1655B524-B5A8-46FD-B08E-D32244D211AC}" destId="{D7233513-81D6-4F44-B57E-E96A50F7343D}" srcOrd="0" destOrd="0" presId="urn:microsoft.com/office/officeart/2005/8/layout/hierarchy1"/>
    <dgm:cxn modelId="{D0176EA9-54C3-441E-935E-4A60AEE163A8}" srcId="{E2F11E2D-E829-4A91-87AB-D89012B0FDF5}" destId="{1655B524-B5A8-46FD-B08E-D32244D211AC}" srcOrd="0" destOrd="0" parTransId="{F397C317-AEF1-4BFC-8FF3-F4F1EDD03A0A}" sibTransId="{82FC0393-8C04-44C3-936D-795D2C18545C}"/>
    <dgm:cxn modelId="{0FA43EF1-3AF7-405D-B507-E4AD842BD489}" srcId="{E2F11E2D-E829-4A91-87AB-D89012B0FDF5}" destId="{8FCA90F7-969F-4AF3-9AF6-8AAC468C528B}" srcOrd="1" destOrd="0" parTransId="{443923F7-64F7-4E97-B4DD-E8187D4C7468}" sibTransId="{D786B09B-BA5B-4CC7-8B78-1A8F25AF3263}"/>
    <dgm:cxn modelId="{9A735D98-0E9E-4E4B-ADE4-24F2C0A28F26}" type="presParOf" srcId="{001FCBD1-0BD4-7A4A-89A9-FBDEE4D098EF}" destId="{1AF00A81-5730-EF48-AAD7-B99F034D07D9}" srcOrd="0" destOrd="0" presId="urn:microsoft.com/office/officeart/2005/8/layout/hierarchy1"/>
    <dgm:cxn modelId="{F64D87B5-754B-C340-864A-84BEB0D2CA28}" type="presParOf" srcId="{1AF00A81-5730-EF48-AAD7-B99F034D07D9}" destId="{C788C989-C088-974A-94F7-FF4C5F1529E5}" srcOrd="0" destOrd="0" presId="urn:microsoft.com/office/officeart/2005/8/layout/hierarchy1"/>
    <dgm:cxn modelId="{939F88DC-FF16-EB47-BB23-7D1276A285E1}" type="presParOf" srcId="{C788C989-C088-974A-94F7-FF4C5F1529E5}" destId="{A4B685DE-FB9E-074C-BDBC-F65A78BA7DC8}" srcOrd="0" destOrd="0" presId="urn:microsoft.com/office/officeart/2005/8/layout/hierarchy1"/>
    <dgm:cxn modelId="{E57BFF2E-549C-BD4A-993D-A997363CC71E}" type="presParOf" srcId="{C788C989-C088-974A-94F7-FF4C5F1529E5}" destId="{D7233513-81D6-4F44-B57E-E96A50F7343D}" srcOrd="1" destOrd="0" presId="urn:microsoft.com/office/officeart/2005/8/layout/hierarchy1"/>
    <dgm:cxn modelId="{2F259F85-F28F-EC4B-A10E-DF60557FFED5}" type="presParOf" srcId="{1AF00A81-5730-EF48-AAD7-B99F034D07D9}" destId="{0C742C4C-D812-5F40-AEB3-C845F500B9FF}" srcOrd="1" destOrd="0" presId="urn:microsoft.com/office/officeart/2005/8/layout/hierarchy1"/>
    <dgm:cxn modelId="{F0E8FF51-EFF6-E44F-9BE3-6A994CDD7C62}" type="presParOf" srcId="{001FCBD1-0BD4-7A4A-89A9-FBDEE4D098EF}" destId="{5DD64936-9214-EC46-B19E-996E67F33043}" srcOrd="1" destOrd="0" presId="urn:microsoft.com/office/officeart/2005/8/layout/hierarchy1"/>
    <dgm:cxn modelId="{621267ED-0C60-5144-AA00-915F46032C09}" type="presParOf" srcId="{5DD64936-9214-EC46-B19E-996E67F33043}" destId="{17325259-7D48-7447-BFB0-538FFAE4564D}" srcOrd="0" destOrd="0" presId="urn:microsoft.com/office/officeart/2005/8/layout/hierarchy1"/>
    <dgm:cxn modelId="{7FF6CCCB-F6D0-7344-89D9-277BBA0AEA1F}" type="presParOf" srcId="{17325259-7D48-7447-BFB0-538FFAE4564D}" destId="{1E12477C-4E2B-B442-A820-1342471640C9}" srcOrd="0" destOrd="0" presId="urn:microsoft.com/office/officeart/2005/8/layout/hierarchy1"/>
    <dgm:cxn modelId="{268C1004-4D9D-E540-9CA3-677890F7E86C}" type="presParOf" srcId="{17325259-7D48-7447-BFB0-538FFAE4564D}" destId="{34F5F2B5-1763-7849-86BE-9F2598512273}" srcOrd="1" destOrd="0" presId="urn:microsoft.com/office/officeart/2005/8/layout/hierarchy1"/>
    <dgm:cxn modelId="{03996630-838F-334A-A1E0-9FE8983B7DF4}" type="presParOf" srcId="{5DD64936-9214-EC46-B19E-996E67F33043}" destId="{D07EC7FF-B7BD-734F-BFB0-5138DF1DB49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3C4AB2-2B4D-429F-8BCB-943365600908}"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442CF551-CE0D-475F-A3AA-B232167C62F0}">
      <dgm:prSet/>
      <dgm:spPr/>
      <dgm:t>
        <a:bodyPr/>
        <a:lstStyle/>
        <a:p>
          <a:r>
            <a:rPr lang="en-US"/>
            <a:t>Which statistical categories best predict team success across an NBA season?</a:t>
          </a:r>
        </a:p>
      </dgm:t>
    </dgm:pt>
    <dgm:pt modelId="{8CF32AEA-0A62-46CB-8778-0181C48FAA69}" type="parTrans" cxnId="{B6F64005-59D5-4215-8658-EE045F5058B0}">
      <dgm:prSet/>
      <dgm:spPr/>
      <dgm:t>
        <a:bodyPr/>
        <a:lstStyle/>
        <a:p>
          <a:endParaRPr lang="en-US"/>
        </a:p>
      </dgm:t>
    </dgm:pt>
    <dgm:pt modelId="{3C3AF7B1-63C0-4E7B-8F10-F67091167A10}" type="sibTrans" cxnId="{B6F64005-59D5-4215-8658-EE045F5058B0}">
      <dgm:prSet/>
      <dgm:spPr/>
      <dgm:t>
        <a:bodyPr/>
        <a:lstStyle/>
        <a:p>
          <a:endParaRPr lang="en-US"/>
        </a:p>
      </dgm:t>
    </dgm:pt>
    <dgm:pt modelId="{CA0FA8A1-EB81-414C-905E-76F0B6561D23}">
      <dgm:prSet/>
      <dgm:spPr/>
      <dgm:t>
        <a:bodyPr/>
        <a:lstStyle/>
        <a:p>
          <a:r>
            <a:rPr lang="en-US"/>
            <a:t>Which individual statistics are most strongly correlated with team winning percentage?</a:t>
          </a:r>
        </a:p>
      </dgm:t>
    </dgm:pt>
    <dgm:pt modelId="{7757C7CA-72C3-4797-B3DA-4AB6EC8277C5}" type="parTrans" cxnId="{DDC6A8EF-AF7E-47AC-A9C6-1638C65E232D}">
      <dgm:prSet/>
      <dgm:spPr/>
      <dgm:t>
        <a:bodyPr/>
        <a:lstStyle/>
        <a:p>
          <a:endParaRPr lang="en-US"/>
        </a:p>
      </dgm:t>
    </dgm:pt>
    <dgm:pt modelId="{63DE1C3C-8C68-4448-9CF7-8646289A250B}" type="sibTrans" cxnId="{DDC6A8EF-AF7E-47AC-A9C6-1638C65E232D}">
      <dgm:prSet/>
      <dgm:spPr/>
      <dgm:t>
        <a:bodyPr/>
        <a:lstStyle/>
        <a:p>
          <a:endParaRPr lang="en-US"/>
        </a:p>
      </dgm:t>
    </dgm:pt>
    <dgm:pt modelId="{54D31875-5EC6-4CC6-84C9-988FD3EFE4DE}">
      <dgm:prSet/>
      <dgm:spPr/>
      <dgm:t>
        <a:bodyPr/>
        <a:lstStyle/>
        <a:p>
          <a:r>
            <a:rPr lang="en-US"/>
            <a:t>Do shooting efficiency metrics have a stronger impact on winning than turnovers and rebounds?</a:t>
          </a:r>
        </a:p>
      </dgm:t>
    </dgm:pt>
    <dgm:pt modelId="{299638CC-2B0A-4FCD-9BB8-915A46F0FBDD}" type="parTrans" cxnId="{C817F140-4571-4550-9F7F-FA8C67F5934A}">
      <dgm:prSet/>
      <dgm:spPr/>
      <dgm:t>
        <a:bodyPr/>
        <a:lstStyle/>
        <a:p>
          <a:endParaRPr lang="en-US"/>
        </a:p>
      </dgm:t>
    </dgm:pt>
    <dgm:pt modelId="{5A87A776-CA35-49AE-A848-706A5E8A0549}" type="sibTrans" cxnId="{C817F140-4571-4550-9F7F-FA8C67F5934A}">
      <dgm:prSet/>
      <dgm:spPr/>
      <dgm:t>
        <a:bodyPr/>
        <a:lstStyle/>
        <a:p>
          <a:endParaRPr lang="en-US"/>
        </a:p>
      </dgm:t>
    </dgm:pt>
    <dgm:pt modelId="{9B430588-32C7-A14B-B6A1-A4B8479F6238}" type="pres">
      <dgm:prSet presAssocID="{413C4AB2-2B4D-429F-8BCB-943365600908}" presName="vert0" presStyleCnt="0">
        <dgm:presLayoutVars>
          <dgm:dir/>
          <dgm:animOne val="branch"/>
          <dgm:animLvl val="lvl"/>
        </dgm:presLayoutVars>
      </dgm:prSet>
      <dgm:spPr/>
    </dgm:pt>
    <dgm:pt modelId="{BF409EDD-209D-4F4F-9014-C13D612B808B}" type="pres">
      <dgm:prSet presAssocID="{442CF551-CE0D-475F-A3AA-B232167C62F0}" presName="thickLine" presStyleLbl="alignNode1" presStyleIdx="0" presStyleCnt="3"/>
      <dgm:spPr/>
    </dgm:pt>
    <dgm:pt modelId="{50F32381-5D29-7F4C-88DC-ED6C1FD0B4B8}" type="pres">
      <dgm:prSet presAssocID="{442CF551-CE0D-475F-A3AA-B232167C62F0}" presName="horz1" presStyleCnt="0"/>
      <dgm:spPr/>
    </dgm:pt>
    <dgm:pt modelId="{1FB9DB7B-242F-E445-973C-ADBD2A5CD4C1}" type="pres">
      <dgm:prSet presAssocID="{442CF551-CE0D-475F-A3AA-B232167C62F0}" presName="tx1" presStyleLbl="revTx" presStyleIdx="0" presStyleCnt="3"/>
      <dgm:spPr/>
    </dgm:pt>
    <dgm:pt modelId="{14724C0D-9801-7643-B372-0C19430CCD86}" type="pres">
      <dgm:prSet presAssocID="{442CF551-CE0D-475F-A3AA-B232167C62F0}" presName="vert1" presStyleCnt="0"/>
      <dgm:spPr/>
    </dgm:pt>
    <dgm:pt modelId="{F9C7EDFB-3689-9D4F-9E51-42DC30D3FEB0}" type="pres">
      <dgm:prSet presAssocID="{CA0FA8A1-EB81-414C-905E-76F0B6561D23}" presName="thickLine" presStyleLbl="alignNode1" presStyleIdx="1" presStyleCnt="3"/>
      <dgm:spPr/>
    </dgm:pt>
    <dgm:pt modelId="{EDEE9D22-BEF5-B743-BA2D-36C5E164D102}" type="pres">
      <dgm:prSet presAssocID="{CA0FA8A1-EB81-414C-905E-76F0B6561D23}" presName="horz1" presStyleCnt="0"/>
      <dgm:spPr/>
    </dgm:pt>
    <dgm:pt modelId="{6AA7A8B6-7F82-2349-A926-9AA4A913FB12}" type="pres">
      <dgm:prSet presAssocID="{CA0FA8A1-EB81-414C-905E-76F0B6561D23}" presName="tx1" presStyleLbl="revTx" presStyleIdx="1" presStyleCnt="3"/>
      <dgm:spPr/>
    </dgm:pt>
    <dgm:pt modelId="{44F26453-805E-0D44-8B78-19D0CF33D49E}" type="pres">
      <dgm:prSet presAssocID="{CA0FA8A1-EB81-414C-905E-76F0B6561D23}" presName="vert1" presStyleCnt="0"/>
      <dgm:spPr/>
    </dgm:pt>
    <dgm:pt modelId="{B2673088-30DA-9D4B-A01C-B9BB24E80AF1}" type="pres">
      <dgm:prSet presAssocID="{54D31875-5EC6-4CC6-84C9-988FD3EFE4DE}" presName="thickLine" presStyleLbl="alignNode1" presStyleIdx="2" presStyleCnt="3"/>
      <dgm:spPr/>
    </dgm:pt>
    <dgm:pt modelId="{0DA0995A-CFA5-E04A-95A2-6B7A6CC98DC5}" type="pres">
      <dgm:prSet presAssocID="{54D31875-5EC6-4CC6-84C9-988FD3EFE4DE}" presName="horz1" presStyleCnt="0"/>
      <dgm:spPr/>
    </dgm:pt>
    <dgm:pt modelId="{9D767D94-3779-5B41-BC35-6F1C16961A49}" type="pres">
      <dgm:prSet presAssocID="{54D31875-5EC6-4CC6-84C9-988FD3EFE4DE}" presName="tx1" presStyleLbl="revTx" presStyleIdx="2" presStyleCnt="3"/>
      <dgm:spPr/>
    </dgm:pt>
    <dgm:pt modelId="{48CB363A-366F-4B45-A2DE-13229E5573E6}" type="pres">
      <dgm:prSet presAssocID="{54D31875-5EC6-4CC6-84C9-988FD3EFE4DE}" presName="vert1" presStyleCnt="0"/>
      <dgm:spPr/>
    </dgm:pt>
  </dgm:ptLst>
  <dgm:cxnLst>
    <dgm:cxn modelId="{B6F64005-59D5-4215-8658-EE045F5058B0}" srcId="{413C4AB2-2B4D-429F-8BCB-943365600908}" destId="{442CF551-CE0D-475F-A3AA-B232167C62F0}" srcOrd="0" destOrd="0" parTransId="{8CF32AEA-0A62-46CB-8778-0181C48FAA69}" sibTransId="{3C3AF7B1-63C0-4E7B-8F10-F67091167A10}"/>
    <dgm:cxn modelId="{0C860C26-A76C-C140-AB1E-5F16F1FE5A09}" type="presOf" srcId="{CA0FA8A1-EB81-414C-905E-76F0B6561D23}" destId="{6AA7A8B6-7F82-2349-A926-9AA4A913FB12}" srcOrd="0" destOrd="0" presId="urn:microsoft.com/office/officeart/2008/layout/LinedList"/>
    <dgm:cxn modelId="{09294F32-52C6-DD4E-8964-8D8E13FB958F}" type="presOf" srcId="{54D31875-5EC6-4CC6-84C9-988FD3EFE4DE}" destId="{9D767D94-3779-5B41-BC35-6F1C16961A49}" srcOrd="0" destOrd="0" presId="urn:microsoft.com/office/officeart/2008/layout/LinedList"/>
    <dgm:cxn modelId="{C817F140-4571-4550-9F7F-FA8C67F5934A}" srcId="{413C4AB2-2B4D-429F-8BCB-943365600908}" destId="{54D31875-5EC6-4CC6-84C9-988FD3EFE4DE}" srcOrd="2" destOrd="0" parTransId="{299638CC-2B0A-4FCD-9BB8-915A46F0FBDD}" sibTransId="{5A87A776-CA35-49AE-A848-706A5E8A0549}"/>
    <dgm:cxn modelId="{7D925664-9A19-234F-B84A-FA9C973BC3BC}" type="presOf" srcId="{442CF551-CE0D-475F-A3AA-B232167C62F0}" destId="{1FB9DB7B-242F-E445-973C-ADBD2A5CD4C1}" srcOrd="0" destOrd="0" presId="urn:microsoft.com/office/officeart/2008/layout/LinedList"/>
    <dgm:cxn modelId="{0EECCAA0-0DA4-6947-8F4E-DFC1358155AD}" type="presOf" srcId="{413C4AB2-2B4D-429F-8BCB-943365600908}" destId="{9B430588-32C7-A14B-B6A1-A4B8479F6238}" srcOrd="0" destOrd="0" presId="urn:microsoft.com/office/officeart/2008/layout/LinedList"/>
    <dgm:cxn modelId="{DDC6A8EF-AF7E-47AC-A9C6-1638C65E232D}" srcId="{413C4AB2-2B4D-429F-8BCB-943365600908}" destId="{CA0FA8A1-EB81-414C-905E-76F0B6561D23}" srcOrd="1" destOrd="0" parTransId="{7757C7CA-72C3-4797-B3DA-4AB6EC8277C5}" sibTransId="{63DE1C3C-8C68-4448-9CF7-8646289A250B}"/>
    <dgm:cxn modelId="{D12956CE-2039-7742-8DA7-480854E55E68}" type="presParOf" srcId="{9B430588-32C7-A14B-B6A1-A4B8479F6238}" destId="{BF409EDD-209D-4F4F-9014-C13D612B808B}" srcOrd="0" destOrd="0" presId="urn:microsoft.com/office/officeart/2008/layout/LinedList"/>
    <dgm:cxn modelId="{35407EAF-E76A-4847-B6E6-4760B4D1DB5C}" type="presParOf" srcId="{9B430588-32C7-A14B-B6A1-A4B8479F6238}" destId="{50F32381-5D29-7F4C-88DC-ED6C1FD0B4B8}" srcOrd="1" destOrd="0" presId="urn:microsoft.com/office/officeart/2008/layout/LinedList"/>
    <dgm:cxn modelId="{AB58E247-78CC-7044-90D5-5DB228E14423}" type="presParOf" srcId="{50F32381-5D29-7F4C-88DC-ED6C1FD0B4B8}" destId="{1FB9DB7B-242F-E445-973C-ADBD2A5CD4C1}" srcOrd="0" destOrd="0" presId="urn:microsoft.com/office/officeart/2008/layout/LinedList"/>
    <dgm:cxn modelId="{13F74063-85B9-CD48-AE79-C06E4A82B4A0}" type="presParOf" srcId="{50F32381-5D29-7F4C-88DC-ED6C1FD0B4B8}" destId="{14724C0D-9801-7643-B372-0C19430CCD86}" srcOrd="1" destOrd="0" presId="urn:microsoft.com/office/officeart/2008/layout/LinedList"/>
    <dgm:cxn modelId="{BC9C8863-E68C-0048-A3C0-9F6592B75E9F}" type="presParOf" srcId="{9B430588-32C7-A14B-B6A1-A4B8479F6238}" destId="{F9C7EDFB-3689-9D4F-9E51-42DC30D3FEB0}" srcOrd="2" destOrd="0" presId="urn:microsoft.com/office/officeart/2008/layout/LinedList"/>
    <dgm:cxn modelId="{1EBB6FB7-7109-954E-A561-B6255833074C}" type="presParOf" srcId="{9B430588-32C7-A14B-B6A1-A4B8479F6238}" destId="{EDEE9D22-BEF5-B743-BA2D-36C5E164D102}" srcOrd="3" destOrd="0" presId="urn:microsoft.com/office/officeart/2008/layout/LinedList"/>
    <dgm:cxn modelId="{90CDC1E2-84F5-A449-A15C-612925C8CE5F}" type="presParOf" srcId="{EDEE9D22-BEF5-B743-BA2D-36C5E164D102}" destId="{6AA7A8B6-7F82-2349-A926-9AA4A913FB12}" srcOrd="0" destOrd="0" presId="urn:microsoft.com/office/officeart/2008/layout/LinedList"/>
    <dgm:cxn modelId="{3858AB58-7F3F-3C4B-84B7-74C2A20F3193}" type="presParOf" srcId="{EDEE9D22-BEF5-B743-BA2D-36C5E164D102}" destId="{44F26453-805E-0D44-8B78-19D0CF33D49E}" srcOrd="1" destOrd="0" presId="urn:microsoft.com/office/officeart/2008/layout/LinedList"/>
    <dgm:cxn modelId="{20795546-A787-8A4F-905F-F7B87CACBAC5}" type="presParOf" srcId="{9B430588-32C7-A14B-B6A1-A4B8479F6238}" destId="{B2673088-30DA-9D4B-A01C-B9BB24E80AF1}" srcOrd="4" destOrd="0" presId="urn:microsoft.com/office/officeart/2008/layout/LinedList"/>
    <dgm:cxn modelId="{465CF3FD-BAF9-F24F-966C-258D6BC9FEB6}" type="presParOf" srcId="{9B430588-32C7-A14B-B6A1-A4B8479F6238}" destId="{0DA0995A-CFA5-E04A-95A2-6B7A6CC98DC5}" srcOrd="5" destOrd="0" presId="urn:microsoft.com/office/officeart/2008/layout/LinedList"/>
    <dgm:cxn modelId="{A7B4EE07-35BA-7E40-8B21-991E7BDC5381}" type="presParOf" srcId="{0DA0995A-CFA5-E04A-95A2-6B7A6CC98DC5}" destId="{9D767D94-3779-5B41-BC35-6F1C16961A49}" srcOrd="0" destOrd="0" presId="urn:microsoft.com/office/officeart/2008/layout/LinedList"/>
    <dgm:cxn modelId="{EE750710-2E5A-0540-BE84-E4DB1924CA5A}" type="presParOf" srcId="{0DA0995A-CFA5-E04A-95A2-6B7A6CC98DC5}" destId="{48CB363A-366F-4B45-A2DE-13229E5573E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B8B1EB-A81D-41BE-AB41-99C1C3E4AE9A}">
      <dsp:nvSpPr>
        <dsp:cNvPr id="0" name=""/>
        <dsp:cNvSpPr/>
      </dsp:nvSpPr>
      <dsp:spPr>
        <a:xfrm>
          <a:off x="0" y="4666"/>
          <a:ext cx="6879517" cy="9939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8EF868-CDDA-4A40-8BD6-274C0FA22E7A}">
      <dsp:nvSpPr>
        <dsp:cNvPr id="0" name=""/>
        <dsp:cNvSpPr/>
      </dsp:nvSpPr>
      <dsp:spPr>
        <a:xfrm>
          <a:off x="300679" y="228312"/>
          <a:ext cx="546690" cy="5466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344D89-A2E6-405A-B634-27A98F8931A3}">
      <dsp:nvSpPr>
        <dsp:cNvPr id="0" name=""/>
        <dsp:cNvSpPr/>
      </dsp:nvSpPr>
      <dsp:spPr>
        <a:xfrm>
          <a:off x="1148050" y="4666"/>
          <a:ext cx="5731466" cy="993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97" tIns="105197" rIns="105197" bIns="105197" numCol="1" spcCol="1270" anchor="ctr" anchorCtr="0">
          <a:noAutofit/>
        </a:bodyPr>
        <a:lstStyle/>
        <a:p>
          <a:pPr marL="0" lvl="0" indent="0" algn="l" defTabSz="844550">
            <a:lnSpc>
              <a:spcPct val="90000"/>
            </a:lnSpc>
            <a:spcBef>
              <a:spcPct val="0"/>
            </a:spcBef>
            <a:spcAft>
              <a:spcPct val="35000"/>
            </a:spcAft>
            <a:buNone/>
          </a:pPr>
          <a:r>
            <a:rPr lang="en-US" sz="1900" kern="1200"/>
            <a:t>NBA team and player statistics (2024–2025 season)</a:t>
          </a:r>
        </a:p>
      </dsp:txBody>
      <dsp:txXfrm>
        <a:off x="1148050" y="4666"/>
        <a:ext cx="5731466" cy="993982"/>
      </dsp:txXfrm>
    </dsp:sp>
    <dsp:sp modelId="{12ADC4AA-8060-42E5-BE3B-08D897CBBDF3}">
      <dsp:nvSpPr>
        <dsp:cNvPr id="0" name=""/>
        <dsp:cNvSpPr/>
      </dsp:nvSpPr>
      <dsp:spPr>
        <a:xfrm>
          <a:off x="0" y="1247145"/>
          <a:ext cx="6879517" cy="9939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AD4442-63C0-4787-B262-6E0190C94E62}">
      <dsp:nvSpPr>
        <dsp:cNvPr id="0" name=""/>
        <dsp:cNvSpPr/>
      </dsp:nvSpPr>
      <dsp:spPr>
        <a:xfrm>
          <a:off x="300679" y="1470791"/>
          <a:ext cx="546690" cy="5466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C62FD4-C5B3-426F-AF03-DE7D2123888F}">
      <dsp:nvSpPr>
        <dsp:cNvPr id="0" name=""/>
        <dsp:cNvSpPr/>
      </dsp:nvSpPr>
      <dsp:spPr>
        <a:xfrm>
          <a:off x="1148050" y="1247145"/>
          <a:ext cx="5731466" cy="993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97" tIns="105197" rIns="105197" bIns="105197" numCol="1" spcCol="1270" anchor="ctr" anchorCtr="0">
          <a:noAutofit/>
        </a:bodyPr>
        <a:lstStyle/>
        <a:p>
          <a:pPr marL="0" lvl="0" indent="0" algn="l" defTabSz="844550">
            <a:lnSpc>
              <a:spcPct val="90000"/>
            </a:lnSpc>
            <a:spcBef>
              <a:spcPct val="0"/>
            </a:spcBef>
            <a:spcAft>
              <a:spcPct val="35000"/>
            </a:spcAft>
            <a:buNone/>
          </a:pPr>
          <a:r>
            <a:rPr lang="en-US" sz="1900" kern="1200"/>
            <a:t>Source: </a:t>
          </a:r>
          <a:r>
            <a:rPr lang="en-US" sz="1900" u="sng" kern="1200">
              <a:hlinkClick xmlns:r="http://schemas.openxmlformats.org/officeDocument/2006/relationships" r:id="rId5"/>
            </a:rPr>
            <a:t>database_24_25.csv</a:t>
          </a:r>
          <a:endParaRPr lang="en-US" sz="1900" kern="1200"/>
        </a:p>
      </dsp:txBody>
      <dsp:txXfrm>
        <a:off x="1148050" y="1247145"/>
        <a:ext cx="5731466" cy="993982"/>
      </dsp:txXfrm>
    </dsp:sp>
    <dsp:sp modelId="{C6FE5BD2-35E1-4479-BB7D-0EF977A90D8C}">
      <dsp:nvSpPr>
        <dsp:cNvPr id="0" name=""/>
        <dsp:cNvSpPr/>
      </dsp:nvSpPr>
      <dsp:spPr>
        <a:xfrm>
          <a:off x="0" y="2489623"/>
          <a:ext cx="6879517" cy="9939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F746DF-BD97-4868-ACD4-FA795BBD1743}">
      <dsp:nvSpPr>
        <dsp:cNvPr id="0" name=""/>
        <dsp:cNvSpPr/>
      </dsp:nvSpPr>
      <dsp:spPr>
        <a:xfrm>
          <a:off x="300679" y="2713269"/>
          <a:ext cx="546690" cy="546690"/>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55E78B-9DC7-4615-84AC-5BEC8FD16222}">
      <dsp:nvSpPr>
        <dsp:cNvPr id="0" name=""/>
        <dsp:cNvSpPr/>
      </dsp:nvSpPr>
      <dsp:spPr>
        <a:xfrm>
          <a:off x="1148050" y="2489623"/>
          <a:ext cx="5731466" cy="993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97" tIns="105197" rIns="105197" bIns="105197" numCol="1" spcCol="1270" anchor="ctr" anchorCtr="0">
          <a:noAutofit/>
        </a:bodyPr>
        <a:lstStyle/>
        <a:p>
          <a:pPr marL="0" lvl="0" indent="0" algn="l" defTabSz="844550">
            <a:lnSpc>
              <a:spcPct val="90000"/>
            </a:lnSpc>
            <a:spcBef>
              <a:spcPct val="0"/>
            </a:spcBef>
            <a:spcAft>
              <a:spcPct val="35000"/>
            </a:spcAft>
            <a:buNone/>
          </a:pPr>
          <a:r>
            <a:rPr lang="en-US" sz="1900" kern="1200"/>
            <a:t>Observations: 4892</a:t>
          </a:r>
        </a:p>
      </dsp:txBody>
      <dsp:txXfrm>
        <a:off x="1148050" y="2489623"/>
        <a:ext cx="5731466" cy="993982"/>
      </dsp:txXfrm>
    </dsp:sp>
    <dsp:sp modelId="{AFE6C281-96FB-4B7C-AAC2-50F142AB7202}">
      <dsp:nvSpPr>
        <dsp:cNvPr id="0" name=""/>
        <dsp:cNvSpPr/>
      </dsp:nvSpPr>
      <dsp:spPr>
        <a:xfrm>
          <a:off x="0" y="3732102"/>
          <a:ext cx="6879517" cy="9939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E39248-9BED-4120-A0C2-5B40CF04D764}">
      <dsp:nvSpPr>
        <dsp:cNvPr id="0" name=""/>
        <dsp:cNvSpPr/>
      </dsp:nvSpPr>
      <dsp:spPr>
        <a:xfrm>
          <a:off x="300679" y="3955748"/>
          <a:ext cx="546690" cy="546690"/>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EB5884-2C96-43BB-8350-49F7B8C51EA4}">
      <dsp:nvSpPr>
        <dsp:cNvPr id="0" name=""/>
        <dsp:cNvSpPr/>
      </dsp:nvSpPr>
      <dsp:spPr>
        <a:xfrm>
          <a:off x="1148050" y="3732102"/>
          <a:ext cx="5731466" cy="993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97" tIns="105197" rIns="105197" bIns="105197" numCol="1" spcCol="1270" anchor="ctr" anchorCtr="0">
          <a:noAutofit/>
        </a:bodyPr>
        <a:lstStyle/>
        <a:p>
          <a:pPr marL="0" lvl="0" indent="0" algn="l" defTabSz="844550">
            <a:lnSpc>
              <a:spcPct val="90000"/>
            </a:lnSpc>
            <a:spcBef>
              <a:spcPct val="0"/>
            </a:spcBef>
            <a:spcAft>
              <a:spcPct val="35000"/>
            </a:spcAft>
            <a:buNone/>
          </a:pPr>
          <a:r>
            <a:rPr lang="en-US" sz="1900" kern="1200"/>
            <a:t>Variables: 10</a:t>
          </a:r>
        </a:p>
      </dsp:txBody>
      <dsp:txXfrm>
        <a:off x="1148050" y="3732102"/>
        <a:ext cx="5731466" cy="993982"/>
      </dsp:txXfrm>
    </dsp:sp>
    <dsp:sp modelId="{87D847A3-F4AF-4642-A57B-94D45F4C6767}">
      <dsp:nvSpPr>
        <dsp:cNvPr id="0" name=""/>
        <dsp:cNvSpPr/>
      </dsp:nvSpPr>
      <dsp:spPr>
        <a:xfrm>
          <a:off x="0" y="4974580"/>
          <a:ext cx="6879517" cy="9939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735BDD-8FE5-471A-BBCC-433C242EF0BC}">
      <dsp:nvSpPr>
        <dsp:cNvPr id="0" name=""/>
        <dsp:cNvSpPr/>
      </dsp:nvSpPr>
      <dsp:spPr>
        <a:xfrm>
          <a:off x="300679" y="5198226"/>
          <a:ext cx="546690" cy="546690"/>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6EB28D-1059-4CB0-B86D-7B52057C87FF}">
      <dsp:nvSpPr>
        <dsp:cNvPr id="0" name=""/>
        <dsp:cNvSpPr/>
      </dsp:nvSpPr>
      <dsp:spPr>
        <a:xfrm>
          <a:off x="1148050" y="4974580"/>
          <a:ext cx="5731466" cy="993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97" tIns="105197" rIns="105197" bIns="105197" numCol="1" spcCol="1270" anchor="ctr" anchorCtr="0">
          <a:noAutofit/>
        </a:bodyPr>
        <a:lstStyle/>
        <a:p>
          <a:pPr marL="0" lvl="0" indent="0" algn="l" defTabSz="844550">
            <a:lnSpc>
              <a:spcPct val="90000"/>
            </a:lnSpc>
            <a:spcBef>
              <a:spcPct val="0"/>
            </a:spcBef>
            <a:spcAft>
              <a:spcPct val="35000"/>
            </a:spcAft>
            <a:buNone/>
          </a:pPr>
          <a:r>
            <a:rPr lang="en-US" sz="1900" kern="1200"/>
            <a:t>Unit of analysis: NBA teams/players</a:t>
          </a:r>
        </a:p>
      </dsp:txBody>
      <dsp:txXfrm>
        <a:off x="1148050" y="4974580"/>
        <a:ext cx="5731466" cy="9939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B685DE-FB9E-074C-BDBC-F65A78BA7DC8}">
      <dsp:nvSpPr>
        <dsp:cNvPr id="0" name=""/>
        <dsp:cNvSpPr/>
      </dsp:nvSpPr>
      <dsp:spPr>
        <a:xfrm>
          <a:off x="550" y="1608689"/>
          <a:ext cx="1932465" cy="1227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233513-81D6-4F44-B57E-E96A50F7343D}">
      <dsp:nvSpPr>
        <dsp:cNvPr id="0" name=""/>
        <dsp:cNvSpPr/>
      </dsp:nvSpPr>
      <dsp:spPr>
        <a:xfrm>
          <a:off x="215268" y="1812671"/>
          <a:ext cx="1932465" cy="12271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Outcome Variable:</a:t>
          </a:r>
          <a:endParaRPr lang="en-US" sz="2300" kern="1200"/>
        </a:p>
      </dsp:txBody>
      <dsp:txXfrm>
        <a:off x="251209" y="1848612"/>
        <a:ext cx="1860583" cy="1155233"/>
      </dsp:txXfrm>
    </dsp:sp>
    <dsp:sp modelId="{1E12477C-4E2B-B442-A820-1342471640C9}">
      <dsp:nvSpPr>
        <dsp:cNvPr id="0" name=""/>
        <dsp:cNvSpPr/>
      </dsp:nvSpPr>
      <dsp:spPr>
        <a:xfrm>
          <a:off x="2362452" y="1608689"/>
          <a:ext cx="1932465" cy="1227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F5F2B5-1763-7849-86BE-9F2598512273}">
      <dsp:nvSpPr>
        <dsp:cNvPr id="0" name=""/>
        <dsp:cNvSpPr/>
      </dsp:nvSpPr>
      <dsp:spPr>
        <a:xfrm>
          <a:off x="2577171" y="1812671"/>
          <a:ext cx="1932465" cy="12271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Team Success (Wins)</a:t>
          </a:r>
        </a:p>
      </dsp:txBody>
      <dsp:txXfrm>
        <a:off x="2613112" y="1848612"/>
        <a:ext cx="1860583" cy="11552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409EDD-209D-4F4F-9014-C13D612B808B}">
      <dsp:nvSpPr>
        <dsp:cNvPr id="0" name=""/>
        <dsp:cNvSpPr/>
      </dsp:nvSpPr>
      <dsp:spPr>
        <a:xfrm>
          <a:off x="0" y="2916"/>
          <a:ext cx="687951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B9DB7B-242F-E445-973C-ADBD2A5CD4C1}">
      <dsp:nvSpPr>
        <dsp:cNvPr id="0" name=""/>
        <dsp:cNvSpPr/>
      </dsp:nvSpPr>
      <dsp:spPr>
        <a:xfrm>
          <a:off x="0" y="2916"/>
          <a:ext cx="6879517" cy="1989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Which statistical categories best predict team success across an NBA season?</a:t>
          </a:r>
        </a:p>
      </dsp:txBody>
      <dsp:txXfrm>
        <a:off x="0" y="2916"/>
        <a:ext cx="6879517" cy="1989132"/>
      </dsp:txXfrm>
    </dsp:sp>
    <dsp:sp modelId="{F9C7EDFB-3689-9D4F-9E51-42DC30D3FEB0}">
      <dsp:nvSpPr>
        <dsp:cNvPr id="0" name=""/>
        <dsp:cNvSpPr/>
      </dsp:nvSpPr>
      <dsp:spPr>
        <a:xfrm>
          <a:off x="0" y="1992048"/>
          <a:ext cx="687951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A7A8B6-7F82-2349-A926-9AA4A913FB12}">
      <dsp:nvSpPr>
        <dsp:cNvPr id="0" name=""/>
        <dsp:cNvSpPr/>
      </dsp:nvSpPr>
      <dsp:spPr>
        <a:xfrm>
          <a:off x="0" y="1992048"/>
          <a:ext cx="6879517" cy="1989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Which individual statistics are most strongly correlated with team winning percentage?</a:t>
          </a:r>
        </a:p>
      </dsp:txBody>
      <dsp:txXfrm>
        <a:off x="0" y="1992048"/>
        <a:ext cx="6879517" cy="1989132"/>
      </dsp:txXfrm>
    </dsp:sp>
    <dsp:sp modelId="{B2673088-30DA-9D4B-A01C-B9BB24E80AF1}">
      <dsp:nvSpPr>
        <dsp:cNvPr id="0" name=""/>
        <dsp:cNvSpPr/>
      </dsp:nvSpPr>
      <dsp:spPr>
        <a:xfrm>
          <a:off x="0" y="3981181"/>
          <a:ext cx="6879517"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767D94-3779-5B41-BC35-6F1C16961A49}">
      <dsp:nvSpPr>
        <dsp:cNvPr id="0" name=""/>
        <dsp:cNvSpPr/>
      </dsp:nvSpPr>
      <dsp:spPr>
        <a:xfrm>
          <a:off x="0" y="3981181"/>
          <a:ext cx="6879517" cy="1989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Do shooting efficiency metrics have a stronger impact on winning than turnovers and rebounds?</a:t>
          </a:r>
        </a:p>
      </dsp:txBody>
      <dsp:txXfrm>
        <a:off x="0" y="3981181"/>
        <a:ext cx="6879517" cy="198913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119657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44964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680011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734315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3/19/26</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763316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93925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607552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812042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742443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902929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3/19/26</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696989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3/19/26</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8548401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11" r:id="rId6"/>
    <p:sldLayoutId id="2147483706" r:id="rId7"/>
    <p:sldLayoutId id="2147483707" r:id="rId8"/>
    <p:sldLayoutId id="2147483708" r:id="rId9"/>
    <p:sldLayoutId id="2147483710" r:id="rId10"/>
    <p:sldLayoutId id="2147483709"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0" name="Straight Connector 49">
              <a:extLst>
                <a:ext uri="{FF2B5EF4-FFF2-40B4-BE49-F238E27FC236}">
                  <a16:creationId xmlns:a16="http://schemas.microsoft.com/office/drawing/2014/main" id="{5F28962D-50BA-43F8-8863-28ECE711D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80F5939-D4E0-46FD-9A5A-5D648E381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633D331-78CB-40A1-B167-8185EC5D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512E4B1-E78E-49E7-AA36-374CC1B084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7D46340-CBFC-490F-B44E-7AA8FBF58B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575C26C-3EBD-4AA9-BA4D-2561E295D6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35DB6BE-E065-4559-BF5C-36B56B3790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A54272-CD9D-4F68-BBAB-4F0C0C3EC6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002CE8F-9256-4F2C-B474-5887371711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9C9DE9F-4252-401D-913E-B74C9E326F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FE4E69B-534F-4A80-9E1C-798BEE1B07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7564E1C-009C-4832-AE8D-E98286693F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305DF1C-5801-43F2-A8B9-535136941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06E71C8-0783-4E17-9B34-F51231DD29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D908F17-2A89-4B0A-A2EA-692390969F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BE22751-380F-44F9-BEED-0A553CF87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7B27910-846F-4E4E-B588-F5B2E026FE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6E0501E-134E-46D7-984F-3A382B0BB2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A83974-CBD7-4A69-9D84-2D3BBDE02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503E931-00D4-4B0C-BC69-49FE5C7665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97732A30-BE2F-4D71-BC37-60F7B44591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C8EB840-DE7D-4E67-989C-F4D8F50E15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05D2CC2-53CC-487E-A72E-42B1E9B184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3A12D6B-1D60-4F26-8FB9-74AD5B070B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1895D00-2D63-443C-95A8-5EB6E5EEC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AC50652-2A56-4382-95D0-971644EE0F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A50A374-8880-482D-B54F-F74E0D7BE1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66364D8-CCC7-4AAF-94BC-766EC160D9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A0DC409-26E2-4453-89FD-745EA849BE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39ED039-D66C-4A5E-AA35-E7A5FA2E64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72C13DC-161E-49CF-96B5-5383AA052A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2" name="Right Triangle 81">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84" name="Rectangle 83">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Right Triangle 85">
            <a:extLst>
              <a:ext uri="{FF2B5EF4-FFF2-40B4-BE49-F238E27FC236}">
                <a16:creationId xmlns:a16="http://schemas.microsoft.com/office/drawing/2014/main" id="{93BB3E09-131F-4602-BD64-FD9435CAC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1" y="1519125"/>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8" name="Group 87">
            <a:extLst>
              <a:ext uri="{FF2B5EF4-FFF2-40B4-BE49-F238E27FC236}">
                <a16:creationId xmlns:a16="http://schemas.microsoft.com/office/drawing/2014/main" id="{4044D31D-7646-4DAF-BA5E-5380714319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9" name="Straight Connector 88">
              <a:extLst>
                <a:ext uri="{FF2B5EF4-FFF2-40B4-BE49-F238E27FC236}">
                  <a16:creationId xmlns:a16="http://schemas.microsoft.com/office/drawing/2014/main" id="{0B5473D0-DCBA-4465-9917-0D4AC6D16F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CF52943-7AE9-4192-B6E8-5C67227CC1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173AF2FC-40E3-4633-B109-3C1C0F14DF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421ECA6E-F36A-46B8-A435-427D96FF42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CC50291-5810-40D7-9788-8A7226D9F0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2795DB1-A405-4DD4-9F47-8AB613B7A8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E9E5143-E47A-46AD-824A-448E26371A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B6A9A11-252E-46A1-BC8A-2F08220D83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3AF203F-2E4A-4A9F-BDFC-D7BC0FFBA2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B0CC8E8-6DCB-4523-9A7B-CCC631EF1C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BE65F9E-827C-452A-B3E1-8CF496889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16E893A-3AD7-4B6F-AA47-0B7148560E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18999E0-9761-4930-8E0E-CF0A2217BF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0D42FB9-3F63-4E95-8D3B-EFE93D3A6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5C511E22-C1E7-4FB3-96FF-113AF8C46B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B64877D-2F8B-4A2A-8F01-18792FF802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FDB0185-6AD5-4BF4-B8A1-D100FD11A5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25CC0453-9920-4205-AF14-1FED674265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D92DE9A-A188-4F21-A41B-9092C5D3FE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1B76778-9DB5-49B0-9DC6-BFCF96480E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7F968FBD-7F61-4CD0-BC51-E5D0DB5950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9D6F3145-8CA6-4D47-B61F-169F41EF97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3AD4F6C-120B-4EE6-8954-3F26BAB9B6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A30D852C-B3E7-4FCE-9C73-5DAA7C9F3C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8B95596-D3DB-4319-9698-1864A8EAFD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DC10CF1F-3FBC-4FD3-8B01-D8BDB33CFD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3950FA8-7291-4838-BBB0-54A858513C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8DD4397-BB6F-41E7-97D1-3721DA7D24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9C277A2-D5A7-4E7E-B9C7-CB5F09171F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85BF730-0BE4-4E50-8FDA-40C0ADE221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80821E60-35A9-4DE9-9975-8B9C436592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60AEA4D-8C30-6C2E-4BBE-08244F51C733}"/>
              </a:ext>
            </a:extLst>
          </p:cNvPr>
          <p:cNvSpPr>
            <a:spLocks noGrp="1"/>
          </p:cNvSpPr>
          <p:nvPr>
            <p:ph type="ctrTitle"/>
          </p:nvPr>
        </p:nvSpPr>
        <p:spPr>
          <a:xfrm>
            <a:off x="691079" y="170166"/>
            <a:ext cx="4927426" cy="3258817"/>
          </a:xfrm>
        </p:spPr>
        <p:txBody>
          <a:bodyPr vert="horz" lIns="91440" tIns="45720" rIns="91440" bIns="45720" rtlCol="0" anchor="ctr">
            <a:normAutofit/>
          </a:bodyPr>
          <a:lstStyle/>
          <a:p>
            <a:r>
              <a:rPr lang="en-US" sz="4400"/>
              <a:t>NBA Performance analysis</a:t>
            </a:r>
            <a:br>
              <a:rPr lang="en-US" sz="4400"/>
            </a:br>
            <a:endParaRPr lang="en-US" sz="4400"/>
          </a:p>
        </p:txBody>
      </p:sp>
      <p:sp>
        <p:nvSpPr>
          <p:cNvPr id="3" name="Subtitle 2">
            <a:extLst>
              <a:ext uri="{FF2B5EF4-FFF2-40B4-BE49-F238E27FC236}">
                <a16:creationId xmlns:a16="http://schemas.microsoft.com/office/drawing/2014/main" id="{B2A2CE59-BDB2-845D-D843-24C941D292CE}"/>
              </a:ext>
            </a:extLst>
          </p:cNvPr>
          <p:cNvSpPr>
            <a:spLocks noGrp="1"/>
          </p:cNvSpPr>
          <p:nvPr>
            <p:ph type="subTitle" idx="1"/>
          </p:nvPr>
        </p:nvSpPr>
        <p:spPr>
          <a:xfrm>
            <a:off x="6076281" y="168618"/>
            <a:ext cx="5442590" cy="2715950"/>
          </a:xfrm>
        </p:spPr>
        <p:txBody>
          <a:bodyPr vert="horz" lIns="91440" tIns="45720" rIns="91440" bIns="45720" rtlCol="0" anchor="ctr">
            <a:normAutofit/>
          </a:bodyPr>
          <a:lstStyle/>
          <a:p>
            <a:pPr>
              <a:lnSpc>
                <a:spcPct val="100000"/>
              </a:lnSpc>
            </a:pPr>
            <a:r>
              <a:rPr lang="en-US" sz="2000" dirty="0"/>
              <a:t>Youssef Bastawy</a:t>
            </a:r>
            <a:br>
              <a:rPr lang="en-US" sz="2000" dirty="0"/>
            </a:br>
            <a:br>
              <a:rPr lang="en-US" sz="2000" dirty="0"/>
            </a:br>
            <a:r>
              <a:rPr lang="en-US" sz="2000" dirty="0"/>
              <a:t>BSAN 360-001</a:t>
            </a:r>
            <a:br>
              <a:rPr lang="en-US" sz="2000" dirty="0"/>
            </a:br>
            <a:br>
              <a:rPr lang="en-US" sz="2000" dirty="0"/>
            </a:br>
            <a:r>
              <a:rPr lang="en-US" sz="2000" dirty="0"/>
              <a:t>3/19/2026</a:t>
            </a:r>
            <a:br>
              <a:rPr lang="en-US" sz="2000" dirty="0"/>
            </a:br>
            <a:br>
              <a:rPr lang="en-US" sz="2000" dirty="0"/>
            </a:br>
            <a:r>
              <a:rPr lang="en-US" sz="2000" dirty="0"/>
              <a:t>https://</a:t>
            </a:r>
            <a:r>
              <a:rPr lang="en-US" sz="2000" dirty="0" err="1"/>
              <a:t>github.com</a:t>
            </a:r>
            <a:r>
              <a:rPr lang="en-US" sz="2000" dirty="0"/>
              <a:t>/ybastawy1/BSAN360-Final-Project</a:t>
            </a:r>
          </a:p>
        </p:txBody>
      </p:sp>
      <p:pic>
        <p:nvPicPr>
          <p:cNvPr id="5" name="Picture 4" descr="A close up of a wallpaper&#10;&#10;AI-generated content may be incorrect.">
            <a:extLst>
              <a:ext uri="{FF2B5EF4-FFF2-40B4-BE49-F238E27FC236}">
                <a16:creationId xmlns:a16="http://schemas.microsoft.com/office/drawing/2014/main" id="{6507FD2B-23E8-5A1B-DA44-0CAA28F6CE01}"/>
              </a:ext>
            </a:extLst>
          </p:cNvPr>
          <p:cNvPicPr>
            <a:picLocks noChangeAspect="1"/>
          </p:cNvPicPr>
          <p:nvPr/>
        </p:nvPicPr>
        <p:blipFill>
          <a:blip r:embed="rId2"/>
          <a:srcRect t="15605" b="25416"/>
          <a:stretch>
            <a:fillRect/>
          </a:stretch>
        </p:blipFill>
        <p:spPr>
          <a:xfrm>
            <a:off x="20" y="3271957"/>
            <a:ext cx="12205543" cy="3599364"/>
          </a:xfrm>
          <a:custGeom>
            <a:avLst/>
            <a:gdLst/>
            <a:ahLst/>
            <a:cxnLst/>
            <a:rect l="l" t="t" r="r" b="b"/>
            <a:pathLst>
              <a:path w="12178449" h="3424057">
                <a:moveTo>
                  <a:pt x="8778628" y="0"/>
                </a:moveTo>
                <a:lnTo>
                  <a:pt x="9096995" y="0"/>
                </a:lnTo>
                <a:lnTo>
                  <a:pt x="9540073" y="10341"/>
                </a:lnTo>
                <a:cubicBezTo>
                  <a:pt x="10154127" y="37036"/>
                  <a:pt x="10847400" y="104023"/>
                  <a:pt x="11653844" y="224215"/>
                </a:cubicBezTo>
                <a:lnTo>
                  <a:pt x="12178449" y="307575"/>
                </a:lnTo>
                <a:lnTo>
                  <a:pt x="12178449" y="3424056"/>
                </a:lnTo>
                <a:lnTo>
                  <a:pt x="0" y="3424057"/>
                </a:lnTo>
                <a:lnTo>
                  <a:pt x="0" y="1093185"/>
                </a:lnTo>
                <a:lnTo>
                  <a:pt x="851945" y="1080793"/>
                </a:lnTo>
                <a:cubicBezTo>
                  <a:pt x="4637202" y="967650"/>
                  <a:pt x="5848483" y="115490"/>
                  <a:pt x="8385751" y="7749"/>
                </a:cubicBezTo>
                <a:close/>
              </a:path>
            </a:pathLst>
          </a:custGeom>
        </p:spPr>
      </p:pic>
    </p:spTree>
    <p:extLst>
      <p:ext uri="{BB962C8B-B14F-4D97-AF65-F5344CB8AC3E}">
        <p14:creationId xmlns:p14="http://schemas.microsoft.com/office/powerpoint/2010/main" val="620786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4D45BF-E397-40C0-AFE3-A4149E60E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35F4CD44-7930-4EB8-9A74-8D2F9E6369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7" name="Straight Connector 46">
              <a:extLst>
                <a:ext uri="{FF2B5EF4-FFF2-40B4-BE49-F238E27FC236}">
                  <a16:creationId xmlns:a16="http://schemas.microsoft.com/office/drawing/2014/main" id="{6F1268F0-44F7-4AC9-A3E6-9527C22F30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880B23C-29A4-4D11-8671-EE46FECE7C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C2CF28E-44F6-4983-9729-A705B8709B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B11666B-80E2-4F7D-9613-17A65CBC17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ABFAC7C-C1E8-4988-864D-3B05D3006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2EE5A4C-9245-46EB-B145-8FDFBE6E1A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FEDEDB-B657-4E62-9962-28BF541220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65EFAA5-5243-4FE8-819B-80D4995BB7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F92E633-809E-4E07-965A-F2F9EDCF7F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0DE1690-3F94-4C79-9357-6653BEEF12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9D5DF-1A9E-4690-B016-03FB1E72DC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F8E2D2-E88C-4F73-A660-D2B76298C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37BF3BB-FE7A-410E-AA57-73485A775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EC5EB5-F6E1-441C-AB44-799A5DF1B7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D6F199F-9E76-4C7E-9DF6-20EE550DFE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91704E7-976B-4FE0-9381-8EB7818E7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75603A9-61D4-4172-AF77-7A7CE408A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73C1AA7-2357-41A1-A057-FA2D44DAD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0024205-8F58-4C8D-BE50-35E40091BC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737BEEA-3398-4C1B-AB48-E7173325C0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5EE29AB-4E85-418B-A6D3-3E7B401855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DE2BEB-6A23-4DFC-9A4E-E44F3CA9FF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ECE8D73-51C6-4818-8BD9-9202BBA083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A7AA7F-CD9D-4820-B463-7B9CFEC8EC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1618CA6-513B-458C-89C1-1FE15F1F43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BACA43-902B-4444-95CB-5165D5483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A07376-1103-43DD-A6D6-D7BAF6F005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FCEA8A1-BC0E-4221-B9E5-3D3C7BA261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5D27E5-DFE1-4EE8-B982-0A39223598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FD07B27-85E5-4F3B-B432-CDBDC0F6E6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B78179E-DE7D-4A30-9BDC-05D7AE2176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07E3C0EF-2D2A-42BA-B4E2-76E2B1FC52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4143" y="3153945"/>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34641E2-81CB-E674-2411-4E562FE305C3}"/>
              </a:ext>
            </a:extLst>
          </p:cNvPr>
          <p:cNvSpPr>
            <a:spLocks noGrp="1"/>
          </p:cNvSpPr>
          <p:nvPr>
            <p:ph type="title"/>
          </p:nvPr>
        </p:nvSpPr>
        <p:spPr>
          <a:xfrm>
            <a:off x="691079" y="725950"/>
            <a:ext cx="3428812" cy="5436630"/>
          </a:xfrm>
        </p:spPr>
        <p:txBody>
          <a:bodyPr anchor="ctr">
            <a:normAutofit/>
          </a:bodyPr>
          <a:lstStyle/>
          <a:p>
            <a:r>
              <a:rPr lang="en-US" dirty="0"/>
              <a:t>Dataset Overview</a:t>
            </a:r>
          </a:p>
        </p:txBody>
      </p:sp>
      <p:graphicFrame>
        <p:nvGraphicFramePr>
          <p:cNvPr id="5" name="Content Placeholder 2">
            <a:extLst>
              <a:ext uri="{FF2B5EF4-FFF2-40B4-BE49-F238E27FC236}">
                <a16:creationId xmlns:a16="http://schemas.microsoft.com/office/drawing/2014/main" id="{FA58D66A-1563-8C66-D2DD-E27E3772C5DC}"/>
              </a:ext>
            </a:extLst>
          </p:cNvPr>
          <p:cNvGraphicFramePr>
            <a:graphicFrameLocks noGrp="1"/>
          </p:cNvGraphicFramePr>
          <p:nvPr>
            <p:ph idx="1"/>
            <p:extLst>
              <p:ext uri="{D42A27DB-BD31-4B8C-83A1-F6EECF244321}">
                <p14:modId xmlns:p14="http://schemas.microsoft.com/office/powerpoint/2010/main" val="3954202370"/>
              </p:ext>
            </p:extLst>
          </p:nvPr>
        </p:nvGraphicFramePr>
        <p:xfrm>
          <a:off x="5103282" y="170170"/>
          <a:ext cx="6879517" cy="5973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1501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A71AC-7B6D-F151-E699-ED09BA2324E7}"/>
              </a:ext>
            </a:extLst>
          </p:cNvPr>
          <p:cNvSpPr>
            <a:spLocks noGrp="1"/>
          </p:cNvSpPr>
          <p:nvPr>
            <p:ph type="title"/>
          </p:nvPr>
        </p:nvSpPr>
        <p:spPr>
          <a:xfrm>
            <a:off x="691079" y="460480"/>
            <a:ext cx="10325000" cy="1442463"/>
          </a:xfrm>
        </p:spPr>
        <p:txBody>
          <a:bodyPr/>
          <a:lstStyle/>
          <a:p>
            <a:r>
              <a:rPr lang="en-US" dirty="0"/>
              <a:t>Key Variables</a:t>
            </a:r>
          </a:p>
        </p:txBody>
      </p:sp>
      <p:graphicFrame>
        <p:nvGraphicFramePr>
          <p:cNvPr id="7" name="Content Placeholder 2">
            <a:extLst>
              <a:ext uri="{FF2B5EF4-FFF2-40B4-BE49-F238E27FC236}">
                <a16:creationId xmlns:a16="http://schemas.microsoft.com/office/drawing/2014/main" id="{93076B38-196B-4292-0CDB-7635A9EDDFB1}"/>
              </a:ext>
            </a:extLst>
          </p:cNvPr>
          <p:cNvGraphicFramePr>
            <a:graphicFrameLocks noGrp="1"/>
          </p:cNvGraphicFramePr>
          <p:nvPr>
            <p:ph idx="1"/>
            <p:extLst>
              <p:ext uri="{D42A27DB-BD31-4B8C-83A1-F6EECF244321}">
                <p14:modId xmlns:p14="http://schemas.microsoft.com/office/powerpoint/2010/main" val="1753936295"/>
              </p:ext>
            </p:extLst>
          </p:nvPr>
        </p:nvGraphicFramePr>
        <p:xfrm>
          <a:off x="909354" y="1400023"/>
          <a:ext cx="4510187" cy="46484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640D8C4A-27D5-0DFA-F476-E454DF45E2EA}"/>
              </a:ext>
            </a:extLst>
          </p:cNvPr>
          <p:cNvSpPr txBox="1"/>
          <p:nvPr/>
        </p:nvSpPr>
        <p:spPr>
          <a:xfrm>
            <a:off x="6772460" y="612844"/>
            <a:ext cx="6120580" cy="5632311"/>
          </a:xfrm>
          <a:prstGeom prst="rect">
            <a:avLst/>
          </a:prstGeom>
          <a:noFill/>
        </p:spPr>
        <p:txBody>
          <a:bodyPr wrap="square">
            <a:spAutoFit/>
          </a:bodyPr>
          <a:lstStyle/>
          <a:p>
            <a:r>
              <a:rPr lang="en-US" b="1" dirty="0"/>
              <a:t>Predictor Variables:</a:t>
            </a:r>
          </a:p>
          <a:p>
            <a:endParaRPr lang="en-US" b="1" dirty="0"/>
          </a:p>
          <a:p>
            <a:r>
              <a:rPr lang="en-US" b="1" dirty="0"/>
              <a:t>Shooting Performance:</a:t>
            </a:r>
            <a:endParaRPr lang="en-US" dirty="0"/>
          </a:p>
          <a:p>
            <a:r>
              <a:rPr lang="en-US" dirty="0"/>
              <a:t>3P (3-point shots made)</a:t>
            </a:r>
          </a:p>
          <a:p>
            <a:r>
              <a:rPr lang="en-US" dirty="0"/>
              <a:t>3PA (3-point attempts)</a:t>
            </a:r>
          </a:p>
          <a:p>
            <a:r>
              <a:rPr lang="en-US" b="1" dirty="0"/>
              <a:t>Ball Control:</a:t>
            </a:r>
            <a:endParaRPr lang="en-US" dirty="0"/>
          </a:p>
          <a:p>
            <a:r>
              <a:rPr lang="en-US" dirty="0"/>
              <a:t>TOV (Turnovers)</a:t>
            </a:r>
          </a:p>
          <a:p>
            <a:endParaRPr lang="en-US" b="1" dirty="0"/>
          </a:p>
          <a:p>
            <a:r>
              <a:rPr lang="en-US" b="1" dirty="0"/>
              <a:t>Rebounding:</a:t>
            </a:r>
            <a:endParaRPr lang="en-US" dirty="0"/>
          </a:p>
          <a:p>
            <a:r>
              <a:rPr lang="en-US" dirty="0"/>
              <a:t>ORB (Offensive Rebounds)</a:t>
            </a:r>
            <a:br>
              <a:rPr lang="en-US" dirty="0"/>
            </a:br>
            <a:endParaRPr lang="en-US" dirty="0"/>
          </a:p>
          <a:p>
            <a:r>
              <a:rPr lang="en-US" b="1" dirty="0"/>
              <a:t>Playmaking &amp; Defense:</a:t>
            </a:r>
            <a:endParaRPr lang="en-US" dirty="0"/>
          </a:p>
          <a:p>
            <a:r>
              <a:rPr lang="en-US" dirty="0"/>
              <a:t>AST (Assists)</a:t>
            </a:r>
          </a:p>
          <a:p>
            <a:r>
              <a:rPr lang="en-US" dirty="0"/>
              <a:t>STL (Steals)</a:t>
            </a:r>
          </a:p>
          <a:p>
            <a:r>
              <a:rPr lang="en-US" dirty="0"/>
              <a:t>BLK (Blocks)</a:t>
            </a:r>
          </a:p>
          <a:p>
            <a:endParaRPr lang="en-US" dirty="0"/>
          </a:p>
          <a:p>
            <a:r>
              <a:rPr lang="en-US" b="1" dirty="0"/>
              <a:t>Game Involvement:</a:t>
            </a:r>
            <a:endParaRPr lang="en-US" dirty="0"/>
          </a:p>
          <a:p>
            <a:r>
              <a:rPr lang="en-US" dirty="0"/>
              <a:t>MP (Minutes Played)</a:t>
            </a:r>
          </a:p>
          <a:p>
            <a:r>
              <a:rPr lang="en-US" dirty="0"/>
              <a:t>PF (Personal Fouls)</a:t>
            </a:r>
          </a:p>
          <a:p>
            <a:pPr>
              <a:buNone/>
            </a:pPr>
            <a:endParaRPr lang="en-US" dirty="0"/>
          </a:p>
        </p:txBody>
      </p:sp>
    </p:spTree>
    <p:extLst>
      <p:ext uri="{BB962C8B-B14F-4D97-AF65-F5344CB8AC3E}">
        <p14:creationId xmlns:p14="http://schemas.microsoft.com/office/powerpoint/2010/main" val="1493163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4D45BF-E397-40C0-AFE3-A4149E60E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35F4CD44-7930-4EB8-9A74-8D2F9E6369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6F1268F0-44F7-4AC9-A3E6-9527C22F30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880B23C-29A4-4D11-8671-EE46FECE7C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C2CF28E-44F6-4983-9729-A705B8709B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B11666B-80E2-4F7D-9613-17A65CBC17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ABFAC7C-C1E8-4988-864D-3B05D3006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2EE5A4C-9245-46EB-B145-8FDFBE6E1A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FEDEDB-B657-4E62-9962-28BF541220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65EFAA5-5243-4FE8-819B-80D4995BB7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F92E633-809E-4E07-965A-F2F9EDCF7F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0DE1690-3F94-4C79-9357-6653BEEF12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9D5DF-1A9E-4690-B016-03FB1E72DC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F8E2D2-E88C-4F73-A660-D2B76298C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37BF3BB-FE7A-410E-AA57-73485A775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EC5EB5-F6E1-441C-AB44-799A5DF1B7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D6F199F-9E76-4C7E-9DF6-20EE550DFE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91704E7-976B-4FE0-9381-8EB7818E7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75603A9-61D4-4172-AF77-7A7CE408A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73C1AA7-2357-41A1-A057-FA2D44DAD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0024205-8F58-4C8D-BE50-35E40091BC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737BEEA-3398-4C1B-AB48-E7173325C0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5EE29AB-4E85-418B-A6D3-3E7B401855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DE2BEB-6A23-4DFC-9A4E-E44F3CA9FF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ECE8D73-51C6-4818-8BD9-9202BBA083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A7AA7F-CD9D-4820-B463-7B9CFEC8EC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1618CA6-513B-458C-89C1-1FE15F1F43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BACA43-902B-4444-95CB-5165D5483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A07376-1103-43DD-A6D6-D7BAF6F005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FCEA8A1-BC0E-4221-B9E5-3D3C7BA261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5D27E5-DFE1-4EE8-B982-0A39223598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FD07B27-85E5-4F3B-B432-CDBDC0F6E6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B78179E-DE7D-4A30-9BDC-05D7AE2176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07E3C0EF-2D2A-42BA-B4E2-76E2B1FC52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4143" y="3153945"/>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5C24181-3D6C-8633-BCC3-8D57E51A2307}"/>
              </a:ext>
            </a:extLst>
          </p:cNvPr>
          <p:cNvSpPr>
            <a:spLocks noGrp="1"/>
          </p:cNvSpPr>
          <p:nvPr>
            <p:ph type="title"/>
          </p:nvPr>
        </p:nvSpPr>
        <p:spPr>
          <a:xfrm>
            <a:off x="691079" y="725950"/>
            <a:ext cx="3428812" cy="5436630"/>
          </a:xfrm>
        </p:spPr>
        <p:txBody>
          <a:bodyPr anchor="ctr">
            <a:normAutofit/>
          </a:bodyPr>
          <a:lstStyle/>
          <a:p>
            <a:r>
              <a:rPr lang="en-US" dirty="0"/>
              <a:t>Research Questions</a:t>
            </a:r>
          </a:p>
        </p:txBody>
      </p:sp>
      <p:graphicFrame>
        <p:nvGraphicFramePr>
          <p:cNvPr id="5" name="Content Placeholder 2">
            <a:extLst>
              <a:ext uri="{FF2B5EF4-FFF2-40B4-BE49-F238E27FC236}">
                <a16:creationId xmlns:a16="http://schemas.microsoft.com/office/drawing/2014/main" id="{F9BE2E5F-F1A0-D590-A15E-4CBB13EC5DD7}"/>
              </a:ext>
            </a:extLst>
          </p:cNvPr>
          <p:cNvGraphicFramePr>
            <a:graphicFrameLocks noGrp="1"/>
          </p:cNvGraphicFramePr>
          <p:nvPr>
            <p:ph idx="1"/>
            <p:extLst>
              <p:ext uri="{D42A27DB-BD31-4B8C-83A1-F6EECF244321}">
                <p14:modId xmlns:p14="http://schemas.microsoft.com/office/powerpoint/2010/main" val="2617694823"/>
              </p:ext>
            </p:extLst>
          </p:nvPr>
        </p:nvGraphicFramePr>
        <p:xfrm>
          <a:off x="5103282" y="170170"/>
          <a:ext cx="6879517" cy="5973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1075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3" name="Straight Connector 52">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5" name="Right Triangle 84">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87" name="Rectangle 86">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89" name="Group 88">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90" name="Straight Connector 89">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22" name="Right Triangle 121">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86D23FB-543A-2BFA-00BA-AC147DACF4A7}"/>
              </a:ext>
            </a:extLst>
          </p:cNvPr>
          <p:cNvSpPr>
            <a:spLocks noGrp="1"/>
          </p:cNvSpPr>
          <p:nvPr>
            <p:ph type="title"/>
          </p:nvPr>
        </p:nvSpPr>
        <p:spPr>
          <a:xfrm>
            <a:off x="1494318" y="-563826"/>
            <a:ext cx="9335389" cy="1410378"/>
          </a:xfrm>
        </p:spPr>
        <p:txBody>
          <a:bodyPr vert="horz" lIns="91440" tIns="45720" rIns="91440" bIns="45720" rtlCol="0" anchor="b">
            <a:normAutofit/>
          </a:bodyPr>
          <a:lstStyle/>
          <a:p>
            <a:pPr>
              <a:lnSpc>
                <a:spcPct val="90000"/>
              </a:lnSpc>
            </a:pPr>
            <a:r>
              <a:rPr lang="en-US" sz="4200" dirty="0"/>
              <a:t>Correlation with Winning Percentage</a:t>
            </a:r>
          </a:p>
        </p:txBody>
      </p:sp>
      <p:pic>
        <p:nvPicPr>
          <p:cNvPr id="10" name="Content Placeholder 9" descr="A graph with blue bars&#10;&#10;AI-generated content may be incorrect.">
            <a:extLst>
              <a:ext uri="{FF2B5EF4-FFF2-40B4-BE49-F238E27FC236}">
                <a16:creationId xmlns:a16="http://schemas.microsoft.com/office/drawing/2014/main" id="{051C8499-2140-F320-B23F-D44D0973C1C4}"/>
              </a:ext>
            </a:extLst>
          </p:cNvPr>
          <p:cNvPicPr>
            <a:picLocks noGrp="1" noChangeAspect="1"/>
          </p:cNvPicPr>
          <p:nvPr>
            <p:ph idx="1"/>
          </p:nvPr>
        </p:nvPicPr>
        <p:blipFill>
          <a:blip r:embed="rId2"/>
          <a:stretch>
            <a:fillRect/>
          </a:stretch>
        </p:blipFill>
        <p:spPr>
          <a:xfrm>
            <a:off x="1494318" y="1082780"/>
            <a:ext cx="10052132" cy="3563938"/>
          </a:xfrm>
        </p:spPr>
      </p:pic>
      <p:sp>
        <p:nvSpPr>
          <p:cNvPr id="11" name="TextBox 10">
            <a:extLst>
              <a:ext uri="{FF2B5EF4-FFF2-40B4-BE49-F238E27FC236}">
                <a16:creationId xmlns:a16="http://schemas.microsoft.com/office/drawing/2014/main" id="{C87ACCD8-A7C6-43A0-22B4-1846B765AD2F}"/>
              </a:ext>
            </a:extLst>
          </p:cNvPr>
          <p:cNvSpPr txBox="1"/>
          <p:nvPr/>
        </p:nvSpPr>
        <p:spPr>
          <a:xfrm>
            <a:off x="368444" y="4691426"/>
            <a:ext cx="2754483" cy="1477328"/>
          </a:xfrm>
          <a:prstGeom prst="rect">
            <a:avLst/>
          </a:prstGeom>
          <a:noFill/>
        </p:spPr>
        <p:txBody>
          <a:bodyPr wrap="square" rtlCol="0">
            <a:spAutoFit/>
          </a:bodyPr>
          <a:lstStyle/>
          <a:p>
            <a:r>
              <a:rPr lang="en-US" b="1" dirty="0"/>
              <a:t>Top variables:</a:t>
            </a:r>
          </a:p>
          <a:p>
            <a:r>
              <a:rPr lang="en-US" dirty="0" err="1"/>
              <a:t>GmSc</a:t>
            </a:r>
            <a:r>
              <a:rPr lang="en-US" dirty="0"/>
              <a:t> ≈ 0.16</a:t>
            </a:r>
          </a:p>
          <a:p>
            <a:r>
              <a:rPr lang="en-US" dirty="0"/>
              <a:t>FG% ≈ 0.12</a:t>
            </a:r>
          </a:p>
          <a:p>
            <a:r>
              <a:rPr lang="en-US" dirty="0"/>
              <a:t>3P% ≈ 0.09</a:t>
            </a:r>
          </a:p>
          <a:p>
            <a:endParaRPr lang="en-US" dirty="0"/>
          </a:p>
        </p:txBody>
      </p:sp>
      <p:sp>
        <p:nvSpPr>
          <p:cNvPr id="13" name="TextBox 12">
            <a:extLst>
              <a:ext uri="{FF2B5EF4-FFF2-40B4-BE49-F238E27FC236}">
                <a16:creationId xmlns:a16="http://schemas.microsoft.com/office/drawing/2014/main" id="{365EF92A-F677-4693-CC34-D8EEC8AC64F0}"/>
              </a:ext>
            </a:extLst>
          </p:cNvPr>
          <p:cNvSpPr txBox="1"/>
          <p:nvPr/>
        </p:nvSpPr>
        <p:spPr>
          <a:xfrm>
            <a:off x="2302869" y="4914942"/>
            <a:ext cx="9786653" cy="1200329"/>
          </a:xfrm>
          <a:prstGeom prst="rect">
            <a:avLst/>
          </a:prstGeom>
          <a:noFill/>
        </p:spPr>
        <p:txBody>
          <a:bodyPr wrap="none" rtlCol="0">
            <a:spAutoFit/>
          </a:bodyPr>
          <a:lstStyle/>
          <a:p>
            <a:r>
              <a:rPr lang="en-US" dirty="0"/>
              <a:t>Game Score (</a:t>
            </a:r>
            <a:r>
              <a:rPr lang="en-US" dirty="0" err="1"/>
              <a:t>GmSc</a:t>
            </a:r>
            <a:r>
              <a:rPr lang="en-US" dirty="0"/>
              <a:t>) shows the strongest positive correlation with team success (~0.16)</a:t>
            </a:r>
          </a:p>
          <a:p>
            <a:r>
              <a:rPr lang="en-US" dirty="0"/>
              <a:t>Shooting efficiency metrics such as FG% and 3P% are also positively associated with winning</a:t>
            </a:r>
          </a:p>
          <a:p>
            <a:r>
              <a:rPr lang="en-US" dirty="0"/>
              <a:t>Other variables like assists and rebounds show weaker but still positive relationships</a:t>
            </a:r>
          </a:p>
          <a:p>
            <a:endParaRPr lang="en-US" dirty="0"/>
          </a:p>
        </p:txBody>
      </p:sp>
    </p:spTree>
    <p:extLst>
      <p:ext uri="{BB962C8B-B14F-4D97-AF65-F5344CB8AC3E}">
        <p14:creationId xmlns:p14="http://schemas.microsoft.com/office/powerpoint/2010/main" val="1093886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useBgFill="1">
        <p:nvSpPr>
          <p:cNvPr id="12" name="Freeform: Shape 11">
            <a:extLst>
              <a:ext uri="{FF2B5EF4-FFF2-40B4-BE49-F238E27FC236}">
                <a16:creationId xmlns:a16="http://schemas.microsoft.com/office/drawing/2014/main" id="{CFDF70F4-97B6-40D8-B1FA-9580DBD23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2244" y="224448"/>
            <a:ext cx="6857996" cy="6409096"/>
          </a:xfrm>
          <a:custGeom>
            <a:avLst/>
            <a:gdLst>
              <a:gd name="connsiteX0" fmla="*/ 0 w 6857996"/>
              <a:gd name="connsiteY0" fmla="*/ 2827344 h 6142577"/>
              <a:gd name="connsiteX1" fmla="*/ 0 w 6857996"/>
              <a:gd name="connsiteY1" fmla="*/ 5080510 h 6142577"/>
              <a:gd name="connsiteX2" fmla="*/ 3 w 6857996"/>
              <a:gd name="connsiteY2" fmla="*/ 5080510 h 6142577"/>
              <a:gd name="connsiteX3" fmla="*/ 3 w 6857996"/>
              <a:gd name="connsiteY3" fmla="*/ 6142577 h 6142577"/>
              <a:gd name="connsiteX4" fmla="*/ 6857996 w 6857996"/>
              <a:gd name="connsiteY4" fmla="*/ 6142577 h 6142577"/>
              <a:gd name="connsiteX5" fmla="*/ 6857996 w 6857996"/>
              <a:gd name="connsiteY5" fmla="*/ 3928749 h 6142577"/>
              <a:gd name="connsiteX6" fmla="*/ 6857996 w 6857996"/>
              <a:gd name="connsiteY6" fmla="*/ 2572597 h 6142577"/>
              <a:gd name="connsiteX7" fmla="*/ 6857996 w 6857996"/>
              <a:gd name="connsiteY7" fmla="*/ 307516 h 6142577"/>
              <a:gd name="connsiteX8" fmla="*/ 6550769 w 6857996"/>
              <a:gd name="connsiteY8" fmla="*/ 222609 h 6142577"/>
              <a:gd name="connsiteX9" fmla="*/ 5031274 w 6857996"/>
              <a:gd name="connsiteY9" fmla="*/ 33 h 6142577"/>
              <a:gd name="connsiteX10" fmla="*/ 310659 w 6857996"/>
              <a:gd name="connsiteY10" fmla="*/ 1067285 h 6142577"/>
              <a:gd name="connsiteX11" fmla="*/ 2 w 6857996"/>
              <a:gd name="connsiteY11" fmla="*/ 1072307 h 6142577"/>
              <a:gd name="connsiteX12" fmla="*/ 2 w 6857996"/>
              <a:gd name="connsiteY12" fmla="*/ 2827344 h 614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6" h="6142577">
                <a:moveTo>
                  <a:pt x="0" y="2827344"/>
                </a:moveTo>
                <a:lnTo>
                  <a:pt x="0" y="5080510"/>
                </a:lnTo>
                <a:lnTo>
                  <a:pt x="3" y="5080510"/>
                </a:lnTo>
                <a:lnTo>
                  <a:pt x="3" y="6142577"/>
                </a:lnTo>
                <a:lnTo>
                  <a:pt x="6857996" y="6142577"/>
                </a:lnTo>
                <a:lnTo>
                  <a:pt x="6857996" y="3928749"/>
                </a:lnTo>
                <a:lnTo>
                  <a:pt x="6857996" y="2572597"/>
                </a:lnTo>
                <a:lnTo>
                  <a:pt x="6857996" y="307516"/>
                </a:lnTo>
                <a:lnTo>
                  <a:pt x="6550769" y="222609"/>
                </a:lnTo>
                <a:cubicBezTo>
                  <a:pt x="5946238" y="65902"/>
                  <a:pt x="5454822" y="1688"/>
                  <a:pt x="5031274" y="33"/>
                </a:cubicBezTo>
                <a:cubicBezTo>
                  <a:pt x="3337081" y="-6590"/>
                  <a:pt x="2728780" y="987729"/>
                  <a:pt x="310659" y="1067285"/>
                </a:cubicBezTo>
                <a:lnTo>
                  <a:pt x="2" y="1072307"/>
                </a:lnTo>
                <a:lnTo>
                  <a:pt x="2" y="2827344"/>
                </a:lnTo>
                <a:close/>
              </a:path>
            </a:pathLst>
          </a:custGeom>
          <a:solidFill>
            <a:srgbClr val="BCBCBC">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807F70BA-21EF-4B7D-ACFF-D02E136D44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7D487A9C-B45A-450B-B04B-02570D8F4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C56948-B944-4EAA-A601-1C3F289A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3EFFD07-1C36-4595-9832-727669712C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A5917E5-3154-42BC-8308-71C3D44DB4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05D64D-A9ED-421A-9ABE-761977A815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5E49393-F5BE-4823-92E3-7A624F7EA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035503-21C0-4568-B46B-90BB750327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CACA2B-D1AF-419E-BFBF-413F69DFD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284408D-F3CE-466F-A0C8-D27F2BCFC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2C5065B-1474-4D66-99DB-CFEF811C0F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6F4B51-92DC-4003-A3E7-28710D57A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D5C13CE-E4FE-4F85-BC09-9C950ED752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1C5D97-1CDA-475E-BAC6-EE58999872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B712EBA-54FF-45FE-9A4E-98C0C0EC2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E0AB49E-A89E-4B6C-AAAA-96E326D15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E63E817-E471-4A64-9EF6-FFB1FBB34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4BB2927-CDAC-455A-8D26-8582DD13DD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8E42F79-594B-4397-8A30-281228EF99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E578AA8-0A5F-4BAA-AAFC-8A1E07838B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BA6CB24-165E-4D82-A315-18FFF8ABC6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A7AFC89-7922-47E2-8920-9883AF13C2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2D63DEE-348A-4118-952F-DCD6FC1B6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7A17409-8146-400D-A3C1-1E93FE2056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21B7B93-01A0-4FDD-A6E1-5729577818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D3948D1-38CD-41AC-BBE8-291A85A703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633F3FE-70B6-41BD-A2D7-F9A53AB38E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9D1DD0D-9D4A-41EA-9650-F8215D949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148EE7C-8DC4-4A31-A981-8F838EA8FA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7F7EC5C-3015-4A5E-A9E3-B53F5293D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D7AF31F-4674-411A-837A-ED991478D2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D3DAED2-414E-42E1-998A-6D7EF4A4D0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7" name="Right Triangle 46">
            <a:extLst>
              <a:ext uri="{FF2B5EF4-FFF2-40B4-BE49-F238E27FC236}">
                <a16:creationId xmlns:a16="http://schemas.microsoft.com/office/drawing/2014/main" id="{9E92C66B-792F-479F-B983-F47FEE1AB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993466C-EFF8-25D7-04E0-3AFD5B82D6D7}"/>
              </a:ext>
            </a:extLst>
          </p:cNvPr>
          <p:cNvSpPr>
            <a:spLocks noGrp="1"/>
          </p:cNvSpPr>
          <p:nvPr>
            <p:ph type="title"/>
          </p:nvPr>
        </p:nvSpPr>
        <p:spPr>
          <a:xfrm>
            <a:off x="691079" y="725951"/>
            <a:ext cx="5408027" cy="1442463"/>
          </a:xfrm>
        </p:spPr>
        <p:txBody>
          <a:bodyPr>
            <a:normAutofit/>
          </a:bodyPr>
          <a:lstStyle/>
          <a:p>
            <a:r>
              <a:rPr lang="en-US" dirty="0"/>
              <a:t>Regression Results</a:t>
            </a:r>
          </a:p>
        </p:txBody>
      </p:sp>
      <p:sp>
        <p:nvSpPr>
          <p:cNvPr id="3" name="Content Placeholder 2">
            <a:extLst>
              <a:ext uri="{FF2B5EF4-FFF2-40B4-BE49-F238E27FC236}">
                <a16:creationId xmlns:a16="http://schemas.microsoft.com/office/drawing/2014/main" id="{60657703-CAA8-749E-3D08-65979A2A4A44}"/>
              </a:ext>
            </a:extLst>
          </p:cNvPr>
          <p:cNvSpPr>
            <a:spLocks noGrp="1"/>
          </p:cNvSpPr>
          <p:nvPr>
            <p:ph idx="1"/>
          </p:nvPr>
        </p:nvSpPr>
        <p:spPr>
          <a:xfrm>
            <a:off x="691079" y="2340131"/>
            <a:ext cx="4424633" cy="3791918"/>
          </a:xfrm>
        </p:spPr>
        <p:txBody>
          <a:bodyPr>
            <a:normAutofit fontScale="62500" lnSpcReduction="20000"/>
          </a:bodyPr>
          <a:lstStyle/>
          <a:p>
            <a:r>
              <a:rPr lang="en-US" dirty="0"/>
              <a:t>Shooting efficiency variables are statistically significant predictors of winning</a:t>
            </a:r>
          </a:p>
          <a:p>
            <a:r>
              <a:rPr lang="en-US" dirty="0"/>
              <a:t>Turnovers have a negative and significant impact</a:t>
            </a:r>
          </a:p>
          <a:p>
            <a:r>
              <a:rPr lang="en-US" dirty="0"/>
              <a:t>Rebounds have a smaller or less consistent effect</a:t>
            </a:r>
          </a:p>
          <a:p>
            <a:r>
              <a:rPr lang="en-US" dirty="0"/>
              <a:t>The model explains 4.0% of variation in team success (R² = 0.04)</a:t>
            </a:r>
          </a:p>
          <a:p>
            <a:r>
              <a:rPr lang="en-US" dirty="0"/>
              <a:t>Three-point shots made (3P) and assists (AST) have a positive and significant impact on winning</a:t>
            </a:r>
          </a:p>
          <a:p>
            <a:r>
              <a:rPr lang="en-US" dirty="0"/>
              <a:t>Turnovers (TOV) and personal fouls (PF) have a negative and significant effect</a:t>
            </a:r>
          </a:p>
          <a:p>
            <a:r>
              <a:rPr lang="en-US" dirty="0"/>
              <a:t>Attempting more three-pointers (3PA) is negatively associated with winning</a:t>
            </a:r>
          </a:p>
          <a:p>
            <a:r>
              <a:rPr lang="en-US" dirty="0"/>
              <a:t>Some variables, such as offensive rebounds (ORB) and minutes played (MP), are not statistically significant</a:t>
            </a:r>
          </a:p>
          <a:p>
            <a:endParaRPr lang="en-US" dirty="0"/>
          </a:p>
          <a:p>
            <a:endParaRPr lang="en-US" dirty="0"/>
          </a:p>
        </p:txBody>
      </p:sp>
      <p:pic>
        <p:nvPicPr>
          <p:cNvPr id="5" name="Picture 4" descr="A screenshot of a computer&#10;&#10;AI-generated content may be incorrect.">
            <a:extLst>
              <a:ext uri="{FF2B5EF4-FFF2-40B4-BE49-F238E27FC236}">
                <a16:creationId xmlns:a16="http://schemas.microsoft.com/office/drawing/2014/main" id="{55DFABA0-521D-0D36-76A8-5A14ABD76569}"/>
              </a:ext>
            </a:extLst>
          </p:cNvPr>
          <p:cNvPicPr>
            <a:picLocks noChangeAspect="1"/>
          </p:cNvPicPr>
          <p:nvPr/>
        </p:nvPicPr>
        <p:blipFill>
          <a:blip r:embed="rId2"/>
          <a:stretch>
            <a:fillRect/>
          </a:stretch>
        </p:blipFill>
        <p:spPr>
          <a:xfrm>
            <a:off x="7087094" y="804388"/>
            <a:ext cx="4401655" cy="5255709"/>
          </a:xfrm>
          <a:prstGeom prst="rect">
            <a:avLst/>
          </a:prstGeom>
        </p:spPr>
      </p:pic>
    </p:spTree>
    <p:extLst>
      <p:ext uri="{BB962C8B-B14F-4D97-AF65-F5344CB8AC3E}">
        <p14:creationId xmlns:p14="http://schemas.microsoft.com/office/powerpoint/2010/main" val="1178403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7C3C2D0-A48F-4A6F-9C7D-888E9DFE6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useBgFill="1">
        <p:nvSpPr>
          <p:cNvPr id="20" name="Freeform: Shape 19">
            <a:extLst>
              <a:ext uri="{FF2B5EF4-FFF2-40B4-BE49-F238E27FC236}">
                <a16:creationId xmlns:a16="http://schemas.microsoft.com/office/drawing/2014/main" id="{A522AC37-2BE3-4ECF-A007-1DE6CB354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94387" y="266591"/>
            <a:ext cx="6857996" cy="6324809"/>
          </a:xfrm>
          <a:custGeom>
            <a:avLst/>
            <a:gdLst>
              <a:gd name="connsiteX0" fmla="*/ 0 w 6857996"/>
              <a:gd name="connsiteY0" fmla="*/ 2827344 h 6142577"/>
              <a:gd name="connsiteX1" fmla="*/ 0 w 6857996"/>
              <a:gd name="connsiteY1" fmla="*/ 5080510 h 6142577"/>
              <a:gd name="connsiteX2" fmla="*/ 3 w 6857996"/>
              <a:gd name="connsiteY2" fmla="*/ 5080510 h 6142577"/>
              <a:gd name="connsiteX3" fmla="*/ 3 w 6857996"/>
              <a:gd name="connsiteY3" fmla="*/ 6142577 h 6142577"/>
              <a:gd name="connsiteX4" fmla="*/ 6857996 w 6857996"/>
              <a:gd name="connsiteY4" fmla="*/ 6142577 h 6142577"/>
              <a:gd name="connsiteX5" fmla="*/ 6857996 w 6857996"/>
              <a:gd name="connsiteY5" fmla="*/ 3928749 h 6142577"/>
              <a:gd name="connsiteX6" fmla="*/ 6857996 w 6857996"/>
              <a:gd name="connsiteY6" fmla="*/ 2572597 h 6142577"/>
              <a:gd name="connsiteX7" fmla="*/ 6857996 w 6857996"/>
              <a:gd name="connsiteY7" fmla="*/ 307516 h 6142577"/>
              <a:gd name="connsiteX8" fmla="*/ 6550769 w 6857996"/>
              <a:gd name="connsiteY8" fmla="*/ 222609 h 6142577"/>
              <a:gd name="connsiteX9" fmla="*/ 5031274 w 6857996"/>
              <a:gd name="connsiteY9" fmla="*/ 33 h 6142577"/>
              <a:gd name="connsiteX10" fmla="*/ 310659 w 6857996"/>
              <a:gd name="connsiteY10" fmla="*/ 1067285 h 6142577"/>
              <a:gd name="connsiteX11" fmla="*/ 2 w 6857996"/>
              <a:gd name="connsiteY11" fmla="*/ 1072307 h 6142577"/>
              <a:gd name="connsiteX12" fmla="*/ 2 w 6857996"/>
              <a:gd name="connsiteY12" fmla="*/ 2827344 h 614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6" h="6142577">
                <a:moveTo>
                  <a:pt x="0" y="2827344"/>
                </a:moveTo>
                <a:lnTo>
                  <a:pt x="0" y="5080510"/>
                </a:lnTo>
                <a:lnTo>
                  <a:pt x="3" y="5080510"/>
                </a:lnTo>
                <a:lnTo>
                  <a:pt x="3" y="6142577"/>
                </a:lnTo>
                <a:lnTo>
                  <a:pt x="6857996" y="6142577"/>
                </a:lnTo>
                <a:lnTo>
                  <a:pt x="6857996" y="3928749"/>
                </a:lnTo>
                <a:lnTo>
                  <a:pt x="6857996" y="2572597"/>
                </a:lnTo>
                <a:lnTo>
                  <a:pt x="6857996" y="307516"/>
                </a:lnTo>
                <a:lnTo>
                  <a:pt x="6550769" y="222609"/>
                </a:lnTo>
                <a:cubicBezTo>
                  <a:pt x="5946238" y="65902"/>
                  <a:pt x="5454822" y="1688"/>
                  <a:pt x="5031274" y="33"/>
                </a:cubicBezTo>
                <a:cubicBezTo>
                  <a:pt x="3337081" y="-6590"/>
                  <a:pt x="2728780" y="987729"/>
                  <a:pt x="310659" y="1067285"/>
                </a:cubicBezTo>
                <a:lnTo>
                  <a:pt x="2" y="1072307"/>
                </a:lnTo>
                <a:lnTo>
                  <a:pt x="2" y="2827344"/>
                </a:lnTo>
                <a:close/>
              </a:path>
            </a:pathLst>
          </a:custGeom>
          <a:solidFill>
            <a:srgbClr val="BCBCBC">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2" name="Group 21">
            <a:extLst>
              <a:ext uri="{FF2B5EF4-FFF2-40B4-BE49-F238E27FC236}">
                <a16:creationId xmlns:a16="http://schemas.microsoft.com/office/drawing/2014/main" id="{ACAC8F7F-D35D-4520-8F56-4EFA77C73B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3" name="Straight Connector 22">
              <a:extLst>
                <a:ext uri="{FF2B5EF4-FFF2-40B4-BE49-F238E27FC236}">
                  <a16:creationId xmlns:a16="http://schemas.microsoft.com/office/drawing/2014/main" id="{E87C587A-B291-49B1-BE30-198570DDA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6C1D58-93FC-4B49-9F8B-2262E08DAA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0965ED9-2FC3-4180-9CAC-D7DF1C7BEF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116CA23-FA2C-4A44-A67C-FC147A71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2C391CF-E782-40EA-B1EB-05ADC774CC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B322665-68EB-45B5-A6DE-2869B30F1C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3B7FA59-83C4-4952-AF38-C1FC950E9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E5D6D3A-DE20-486C-BBBF-F9B0E4D8A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B8B1D81-CEF1-437F-8252-036661CB5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1B0312A-9358-4743-961A-6F77AEB5D9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C02485F-0EE1-4595-A972-16A13E9191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102D844-6E4F-483E-8E2E-9006EA1801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58766E6-D2D6-447C-B1DC-B7F7C381F1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9BBD00C-7AB2-445E-B7DA-98CC7CAF3D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D177E1C-6580-456C-AAAE-89D422A2C1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B85538F-9888-4E68-A9F3-DBB136C0FF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9B624F-F9D8-43BB-A468-08331D66CC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60E66F4-AE52-4D19-AF99-540F0CCFD7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CADC852-407F-4870-9F7B-A6004FE77C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E9CC738-B12D-4154-A4EA-81D4576BC1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A2A84F5-CD6A-4287-A9C1-EED0E65CA9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3F4EFD5-6D1E-4865-83BA-0F116DF06F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0A8CE11-5C23-4CA3-8D8E-9E094566DB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5D41DA6-2047-4BB5-8469-509E240E49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AACD460-E6E2-4C46-A780-095B52D1B2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B36364A-122E-43B1-B2B8-F00D83E5D6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9A63098-DBC2-4C59-9D33-809ECCA623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8F309E4-ACE9-4428-8DDA-20E0F1A1BC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39F177F-07E3-45BF-85B1-21E231DCCC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3EC3277-85FC-401E-80E3-B64B9808DE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9A24ED6-70A5-4DC0-A213-5385E58417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C9BE6DD-07E3-5752-68D4-38E5A95135D3}"/>
              </a:ext>
            </a:extLst>
          </p:cNvPr>
          <p:cNvSpPr>
            <a:spLocks noGrp="1"/>
          </p:cNvSpPr>
          <p:nvPr>
            <p:ph type="title"/>
          </p:nvPr>
        </p:nvSpPr>
        <p:spPr>
          <a:xfrm>
            <a:off x="691079" y="725951"/>
            <a:ext cx="4923187" cy="5417452"/>
          </a:xfrm>
        </p:spPr>
        <p:txBody>
          <a:bodyPr anchor="ctr">
            <a:normAutofit/>
          </a:bodyPr>
          <a:lstStyle/>
          <a:p>
            <a:r>
              <a:rPr lang="en-US" dirty="0"/>
              <a:t>Comparing Performance Factors</a:t>
            </a:r>
            <a:br>
              <a:rPr lang="en-US" dirty="0"/>
            </a:br>
            <a:endParaRPr lang="en-US" dirty="0"/>
          </a:p>
        </p:txBody>
      </p:sp>
      <p:sp>
        <p:nvSpPr>
          <p:cNvPr id="55" name="Right Triangle 54">
            <a:extLst>
              <a:ext uri="{FF2B5EF4-FFF2-40B4-BE49-F238E27FC236}">
                <a16:creationId xmlns:a16="http://schemas.microsoft.com/office/drawing/2014/main" id="{69F0804E-F8DE-40E7-90F4-68B638136E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8924" y="3137678"/>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C66254A5-8BEB-BA6A-1E2D-7341A2EBCF43}"/>
              </a:ext>
            </a:extLst>
          </p:cNvPr>
          <p:cNvSpPr>
            <a:spLocks noGrp="1"/>
          </p:cNvSpPr>
          <p:nvPr>
            <p:ph idx="1"/>
          </p:nvPr>
        </p:nvSpPr>
        <p:spPr>
          <a:xfrm>
            <a:off x="7086745" y="713048"/>
            <a:ext cx="4414176" cy="5449532"/>
          </a:xfrm>
        </p:spPr>
        <p:txBody>
          <a:bodyPr anchor="ctr">
            <a:normAutofit/>
          </a:bodyPr>
          <a:lstStyle/>
          <a:p>
            <a:pPr>
              <a:lnSpc>
                <a:spcPct val="100000"/>
              </a:lnSpc>
            </a:pPr>
            <a:r>
              <a:rPr lang="en-US" sz="1300" b="1" dirty="0"/>
              <a:t>Shooting Performance (3P, 3PA):</a:t>
            </a:r>
            <a:endParaRPr lang="en-US" sz="1300" dirty="0"/>
          </a:p>
          <a:p>
            <a:pPr>
              <a:lnSpc>
                <a:spcPct val="100000"/>
              </a:lnSpc>
            </a:pPr>
            <a:r>
              <a:rPr lang="en-US" sz="1300" dirty="0"/>
              <a:t>3P has a </a:t>
            </a:r>
            <a:r>
              <a:rPr lang="en-US" sz="1300" b="1" dirty="0"/>
              <a:t>positive impact on winning (</a:t>
            </a:r>
            <a:r>
              <a:rPr lang="en-US" sz="1300" b="1" dirty="0" err="1"/>
              <a:t>coef</a:t>
            </a:r>
            <a:r>
              <a:rPr lang="en-US" sz="1300" b="1" dirty="0"/>
              <a:t> = +0.056, p &lt; 0.001)</a:t>
            </a:r>
            <a:endParaRPr lang="en-US" sz="1300" dirty="0"/>
          </a:p>
          <a:p>
            <a:pPr>
              <a:lnSpc>
                <a:spcPct val="100000"/>
              </a:lnSpc>
            </a:pPr>
            <a:r>
              <a:rPr lang="en-US" sz="1300" dirty="0"/>
              <a:t>3PA has a </a:t>
            </a:r>
            <a:r>
              <a:rPr lang="en-US" sz="1300" b="1" dirty="0"/>
              <a:t>negative impact (</a:t>
            </a:r>
            <a:r>
              <a:rPr lang="en-US" sz="1300" b="1" dirty="0" err="1"/>
              <a:t>coef</a:t>
            </a:r>
            <a:r>
              <a:rPr lang="en-US" sz="1300" b="1" dirty="0"/>
              <a:t> = -0.026, p &lt; 0.001)</a:t>
            </a:r>
            <a:endParaRPr lang="en-US" sz="1300" dirty="0"/>
          </a:p>
          <a:p>
            <a:pPr>
              <a:lnSpc>
                <a:spcPct val="100000"/>
              </a:lnSpc>
            </a:pPr>
            <a:r>
              <a:rPr lang="en-US" sz="1300" dirty="0"/>
              <a:t>Efficient scoring matters more than shot volume</a:t>
            </a:r>
          </a:p>
          <a:p>
            <a:pPr>
              <a:lnSpc>
                <a:spcPct val="100000"/>
              </a:lnSpc>
            </a:pPr>
            <a:br>
              <a:rPr lang="en-US" sz="1300" dirty="0"/>
            </a:br>
            <a:endParaRPr lang="en-US" sz="1300" dirty="0"/>
          </a:p>
          <a:p>
            <a:pPr>
              <a:lnSpc>
                <a:spcPct val="100000"/>
              </a:lnSpc>
            </a:pPr>
            <a:r>
              <a:rPr lang="en-US" sz="1300" b="1" dirty="0"/>
              <a:t>Turnovers (TOV):</a:t>
            </a:r>
            <a:endParaRPr lang="en-US" sz="1300" dirty="0"/>
          </a:p>
          <a:p>
            <a:pPr>
              <a:lnSpc>
                <a:spcPct val="100000"/>
              </a:lnSpc>
            </a:pPr>
            <a:r>
              <a:rPr lang="en-US" sz="1300" dirty="0"/>
              <a:t>Negative impact on winning </a:t>
            </a:r>
            <a:r>
              <a:rPr lang="en-US" sz="1300" b="1" dirty="0"/>
              <a:t>(</a:t>
            </a:r>
            <a:r>
              <a:rPr lang="en-US" sz="1300" b="1" dirty="0" err="1"/>
              <a:t>coef</a:t>
            </a:r>
            <a:r>
              <a:rPr lang="en-US" sz="1300" b="1" dirty="0"/>
              <a:t> = -0.022, p &lt; 0.001)</a:t>
            </a:r>
            <a:endParaRPr lang="en-US" sz="1300" dirty="0"/>
          </a:p>
          <a:p>
            <a:pPr>
              <a:lnSpc>
                <a:spcPct val="100000"/>
              </a:lnSpc>
            </a:pPr>
            <a:r>
              <a:rPr lang="en-US" sz="1300" dirty="0"/>
              <a:t>Teams with fewer turnovers perform better</a:t>
            </a:r>
          </a:p>
          <a:p>
            <a:pPr>
              <a:lnSpc>
                <a:spcPct val="100000"/>
              </a:lnSpc>
            </a:pPr>
            <a:r>
              <a:rPr lang="en-US" sz="1300" dirty="0"/>
              <a:t>Statistically significant predictor</a:t>
            </a:r>
          </a:p>
          <a:p>
            <a:pPr>
              <a:lnSpc>
                <a:spcPct val="100000"/>
              </a:lnSpc>
            </a:pPr>
            <a:br>
              <a:rPr lang="en-US" sz="1300" dirty="0"/>
            </a:br>
            <a:endParaRPr lang="en-US" sz="1300" dirty="0"/>
          </a:p>
          <a:p>
            <a:pPr>
              <a:lnSpc>
                <a:spcPct val="100000"/>
              </a:lnSpc>
            </a:pPr>
            <a:r>
              <a:rPr lang="en-US" sz="1300" b="1" dirty="0"/>
              <a:t>Rebounds (ORB):</a:t>
            </a:r>
            <a:endParaRPr lang="en-US" sz="1300" dirty="0"/>
          </a:p>
          <a:p>
            <a:pPr>
              <a:lnSpc>
                <a:spcPct val="100000"/>
              </a:lnSpc>
            </a:pPr>
            <a:r>
              <a:rPr lang="en-US" sz="1300" dirty="0"/>
              <a:t>No meaningful impact </a:t>
            </a:r>
            <a:r>
              <a:rPr lang="en-US" sz="1300" b="1" dirty="0"/>
              <a:t>(</a:t>
            </a:r>
            <a:r>
              <a:rPr lang="en-US" sz="1300" b="1" dirty="0" err="1"/>
              <a:t>coef</a:t>
            </a:r>
            <a:r>
              <a:rPr lang="en-US" sz="1300" b="1" dirty="0"/>
              <a:t> = -0.0002, p = 0.968)</a:t>
            </a:r>
            <a:endParaRPr lang="en-US" sz="1300" dirty="0"/>
          </a:p>
          <a:p>
            <a:pPr>
              <a:lnSpc>
                <a:spcPct val="100000"/>
              </a:lnSpc>
            </a:pPr>
            <a:r>
              <a:rPr lang="en-US" sz="1300" dirty="0"/>
              <a:t>Not statistically significant</a:t>
            </a:r>
          </a:p>
          <a:p>
            <a:pPr>
              <a:lnSpc>
                <a:spcPct val="100000"/>
              </a:lnSpc>
            </a:pPr>
            <a:r>
              <a:rPr lang="en-US" sz="1300" dirty="0"/>
              <a:t>Weak predictor of team success</a:t>
            </a:r>
          </a:p>
          <a:p>
            <a:pPr>
              <a:lnSpc>
                <a:spcPct val="100000"/>
              </a:lnSpc>
            </a:pPr>
            <a:endParaRPr lang="en-US" sz="1300" dirty="0"/>
          </a:p>
        </p:txBody>
      </p:sp>
    </p:spTree>
    <p:extLst>
      <p:ext uri="{BB962C8B-B14F-4D97-AF65-F5344CB8AC3E}">
        <p14:creationId xmlns:p14="http://schemas.microsoft.com/office/powerpoint/2010/main" val="2929935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4" name="Group 13">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7" name="Right Triangle 46">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D164BBE-1688-D6B3-A543-B006FB507FF4}"/>
              </a:ext>
            </a:extLst>
          </p:cNvPr>
          <p:cNvSpPr>
            <a:spLocks noGrp="1"/>
          </p:cNvSpPr>
          <p:nvPr>
            <p:ph type="title"/>
          </p:nvPr>
        </p:nvSpPr>
        <p:spPr>
          <a:xfrm>
            <a:off x="691079" y="725952"/>
            <a:ext cx="4038652" cy="1881178"/>
          </a:xfrm>
        </p:spPr>
        <p:txBody>
          <a:bodyPr>
            <a:normAutofit/>
          </a:bodyPr>
          <a:lstStyle/>
          <a:p>
            <a:r>
              <a:rPr lang="en-US" dirty="0"/>
              <a:t>Key Insights</a:t>
            </a:r>
          </a:p>
        </p:txBody>
      </p:sp>
      <p:sp>
        <p:nvSpPr>
          <p:cNvPr id="9" name="Content Placeholder 8">
            <a:extLst>
              <a:ext uri="{FF2B5EF4-FFF2-40B4-BE49-F238E27FC236}">
                <a16:creationId xmlns:a16="http://schemas.microsoft.com/office/drawing/2014/main" id="{2325D57A-6424-52BF-E685-74457944ED7F}"/>
              </a:ext>
            </a:extLst>
          </p:cNvPr>
          <p:cNvSpPr>
            <a:spLocks noGrp="1"/>
          </p:cNvSpPr>
          <p:nvPr>
            <p:ph idx="1"/>
          </p:nvPr>
        </p:nvSpPr>
        <p:spPr>
          <a:xfrm>
            <a:off x="691079" y="2886117"/>
            <a:ext cx="4038652" cy="3276824"/>
          </a:xfrm>
        </p:spPr>
        <p:txBody>
          <a:bodyPr>
            <a:normAutofit fontScale="55000" lnSpcReduction="20000"/>
          </a:bodyPr>
          <a:lstStyle/>
          <a:p>
            <a:r>
              <a:rPr lang="en-US" dirty="0"/>
              <a:t>Shooting performance is a key driver of team success</a:t>
            </a:r>
          </a:p>
          <a:p>
            <a:r>
              <a:rPr lang="en-US" i="1" dirty="0"/>
              <a:t>(3P </a:t>
            </a:r>
            <a:r>
              <a:rPr lang="en-US" i="1" dirty="0" err="1"/>
              <a:t>coef</a:t>
            </a:r>
            <a:r>
              <a:rPr lang="en-US" i="1" dirty="0"/>
              <a:t> = +0.056, p &lt; 0.001; 3PA </a:t>
            </a:r>
            <a:r>
              <a:rPr lang="en-US" i="1" dirty="0" err="1"/>
              <a:t>coef</a:t>
            </a:r>
            <a:r>
              <a:rPr lang="en-US" i="1" dirty="0"/>
              <a:t> = -0.026, p &lt; 0.001)</a:t>
            </a:r>
          </a:p>
          <a:p>
            <a:pPr marL="0" indent="0">
              <a:buNone/>
            </a:pPr>
            <a:endParaRPr lang="en-US" dirty="0"/>
          </a:p>
          <a:p>
            <a:r>
              <a:rPr lang="en-US" dirty="0"/>
              <a:t>Turnovers significantly reduce winning probability</a:t>
            </a:r>
          </a:p>
          <a:p>
            <a:r>
              <a:rPr lang="en-US" i="1" dirty="0"/>
              <a:t>(TOV </a:t>
            </a:r>
            <a:r>
              <a:rPr lang="en-US" i="1" dirty="0" err="1"/>
              <a:t>coef</a:t>
            </a:r>
            <a:r>
              <a:rPr lang="en-US" i="1" dirty="0"/>
              <a:t> = -0.022, p &lt; 0.001)</a:t>
            </a:r>
            <a:endParaRPr lang="en-US" dirty="0"/>
          </a:p>
          <a:p>
            <a:pPr marL="0" indent="0">
              <a:buNone/>
            </a:pPr>
            <a:endParaRPr lang="en-US" dirty="0"/>
          </a:p>
          <a:p>
            <a:r>
              <a:rPr lang="en-US" dirty="0"/>
              <a:t>Rebounds have little impact on team success</a:t>
            </a:r>
          </a:p>
          <a:p>
            <a:r>
              <a:rPr lang="en-US" i="1" dirty="0"/>
              <a:t>(ORB </a:t>
            </a:r>
            <a:r>
              <a:rPr lang="en-US" i="1" dirty="0" err="1"/>
              <a:t>coef</a:t>
            </a:r>
            <a:r>
              <a:rPr lang="en-US" i="1" dirty="0"/>
              <a:t> = -0.0002, p = 0.968)</a:t>
            </a:r>
          </a:p>
          <a:p>
            <a:pPr marL="0" indent="0">
              <a:buNone/>
            </a:pPr>
            <a:endParaRPr lang="en-US" dirty="0"/>
          </a:p>
          <a:p>
            <a:r>
              <a:rPr lang="en-US" dirty="0"/>
              <a:t>Offensive efficiency is more important than shot volume</a:t>
            </a:r>
          </a:p>
          <a:p>
            <a:r>
              <a:rPr lang="en-US" i="1" dirty="0"/>
              <a:t>(3P positive vs. 3PA negative relationship)</a:t>
            </a:r>
            <a:endParaRPr lang="en-US" dirty="0"/>
          </a:p>
        </p:txBody>
      </p:sp>
      <p:pic>
        <p:nvPicPr>
          <p:cNvPr id="5" name="Content Placeholder 4" descr="A screenshot of a graph&#10;&#10;AI-generated content may be incorrect.">
            <a:extLst>
              <a:ext uri="{FF2B5EF4-FFF2-40B4-BE49-F238E27FC236}">
                <a16:creationId xmlns:a16="http://schemas.microsoft.com/office/drawing/2014/main" id="{F57F5521-6383-5560-FB0B-F047C26A7F69}"/>
              </a:ext>
            </a:extLst>
          </p:cNvPr>
          <p:cNvPicPr>
            <a:picLocks noChangeAspect="1"/>
          </p:cNvPicPr>
          <p:nvPr/>
        </p:nvPicPr>
        <p:blipFill>
          <a:blip r:embed="rId2"/>
          <a:stretch>
            <a:fillRect/>
          </a:stretch>
        </p:blipFill>
        <p:spPr>
          <a:xfrm>
            <a:off x="5106333" y="1414100"/>
            <a:ext cx="6401443" cy="4044548"/>
          </a:xfrm>
          <a:prstGeom prst="rect">
            <a:avLst/>
          </a:prstGeom>
        </p:spPr>
      </p:pic>
    </p:spTree>
    <p:extLst>
      <p:ext uri="{BB962C8B-B14F-4D97-AF65-F5344CB8AC3E}">
        <p14:creationId xmlns:p14="http://schemas.microsoft.com/office/powerpoint/2010/main" val="1575002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useBgFill="1">
        <p:nvSpPr>
          <p:cNvPr id="12" name="Freeform: Shape 11">
            <a:extLst>
              <a:ext uri="{FF2B5EF4-FFF2-40B4-BE49-F238E27FC236}">
                <a16:creationId xmlns:a16="http://schemas.microsoft.com/office/drawing/2014/main" id="{CFDF70F4-97B6-40D8-B1FA-9580DBD23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2244" y="224448"/>
            <a:ext cx="6857996" cy="6409096"/>
          </a:xfrm>
          <a:custGeom>
            <a:avLst/>
            <a:gdLst>
              <a:gd name="connsiteX0" fmla="*/ 0 w 6857996"/>
              <a:gd name="connsiteY0" fmla="*/ 2827344 h 6142577"/>
              <a:gd name="connsiteX1" fmla="*/ 0 w 6857996"/>
              <a:gd name="connsiteY1" fmla="*/ 5080510 h 6142577"/>
              <a:gd name="connsiteX2" fmla="*/ 3 w 6857996"/>
              <a:gd name="connsiteY2" fmla="*/ 5080510 h 6142577"/>
              <a:gd name="connsiteX3" fmla="*/ 3 w 6857996"/>
              <a:gd name="connsiteY3" fmla="*/ 6142577 h 6142577"/>
              <a:gd name="connsiteX4" fmla="*/ 6857996 w 6857996"/>
              <a:gd name="connsiteY4" fmla="*/ 6142577 h 6142577"/>
              <a:gd name="connsiteX5" fmla="*/ 6857996 w 6857996"/>
              <a:gd name="connsiteY5" fmla="*/ 3928749 h 6142577"/>
              <a:gd name="connsiteX6" fmla="*/ 6857996 w 6857996"/>
              <a:gd name="connsiteY6" fmla="*/ 2572597 h 6142577"/>
              <a:gd name="connsiteX7" fmla="*/ 6857996 w 6857996"/>
              <a:gd name="connsiteY7" fmla="*/ 307516 h 6142577"/>
              <a:gd name="connsiteX8" fmla="*/ 6550769 w 6857996"/>
              <a:gd name="connsiteY8" fmla="*/ 222609 h 6142577"/>
              <a:gd name="connsiteX9" fmla="*/ 5031274 w 6857996"/>
              <a:gd name="connsiteY9" fmla="*/ 33 h 6142577"/>
              <a:gd name="connsiteX10" fmla="*/ 310659 w 6857996"/>
              <a:gd name="connsiteY10" fmla="*/ 1067285 h 6142577"/>
              <a:gd name="connsiteX11" fmla="*/ 2 w 6857996"/>
              <a:gd name="connsiteY11" fmla="*/ 1072307 h 6142577"/>
              <a:gd name="connsiteX12" fmla="*/ 2 w 6857996"/>
              <a:gd name="connsiteY12" fmla="*/ 2827344 h 614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6" h="6142577">
                <a:moveTo>
                  <a:pt x="0" y="2827344"/>
                </a:moveTo>
                <a:lnTo>
                  <a:pt x="0" y="5080510"/>
                </a:lnTo>
                <a:lnTo>
                  <a:pt x="3" y="5080510"/>
                </a:lnTo>
                <a:lnTo>
                  <a:pt x="3" y="6142577"/>
                </a:lnTo>
                <a:lnTo>
                  <a:pt x="6857996" y="6142577"/>
                </a:lnTo>
                <a:lnTo>
                  <a:pt x="6857996" y="3928749"/>
                </a:lnTo>
                <a:lnTo>
                  <a:pt x="6857996" y="2572597"/>
                </a:lnTo>
                <a:lnTo>
                  <a:pt x="6857996" y="307516"/>
                </a:lnTo>
                <a:lnTo>
                  <a:pt x="6550769" y="222609"/>
                </a:lnTo>
                <a:cubicBezTo>
                  <a:pt x="5946238" y="65902"/>
                  <a:pt x="5454822" y="1688"/>
                  <a:pt x="5031274" y="33"/>
                </a:cubicBezTo>
                <a:cubicBezTo>
                  <a:pt x="3337081" y="-6590"/>
                  <a:pt x="2728780" y="987729"/>
                  <a:pt x="310659" y="1067285"/>
                </a:cubicBezTo>
                <a:lnTo>
                  <a:pt x="2" y="1072307"/>
                </a:lnTo>
                <a:lnTo>
                  <a:pt x="2" y="2827344"/>
                </a:lnTo>
                <a:close/>
              </a:path>
            </a:pathLst>
          </a:custGeom>
          <a:solidFill>
            <a:srgbClr val="BCBCBC">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807F70BA-21EF-4B7D-ACFF-D02E136D44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7D487A9C-B45A-450B-B04B-02570D8F4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C56948-B944-4EAA-A601-1C3F289A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3EFFD07-1C36-4595-9832-727669712C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A5917E5-3154-42BC-8308-71C3D44DB4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05D64D-A9ED-421A-9ABE-761977A815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5E49393-F5BE-4823-92E3-7A624F7EA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035503-21C0-4568-B46B-90BB750327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CACA2B-D1AF-419E-BFBF-413F69DFD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284408D-F3CE-466F-A0C8-D27F2BCFC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2C5065B-1474-4D66-99DB-CFEF811C0F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6F4B51-92DC-4003-A3E7-28710D57A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D5C13CE-E4FE-4F85-BC09-9C950ED752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1C5D97-1CDA-475E-BAC6-EE58999872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B712EBA-54FF-45FE-9A4E-98C0C0EC2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E0AB49E-A89E-4B6C-AAAA-96E326D15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E63E817-E471-4A64-9EF6-FFB1FBB34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4BB2927-CDAC-455A-8D26-8582DD13DD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8E42F79-594B-4397-8A30-281228EF99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E578AA8-0A5F-4BAA-AAFC-8A1E07838B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BA6CB24-165E-4D82-A315-18FFF8ABC6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A7AFC89-7922-47E2-8920-9883AF13C2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2D63DEE-348A-4118-952F-DCD6FC1B6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7A17409-8146-400D-A3C1-1E93FE2056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21B7B93-01A0-4FDD-A6E1-5729577818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D3948D1-38CD-41AC-BBE8-291A85A703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633F3FE-70B6-41BD-A2D7-F9A53AB38E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9D1DD0D-9D4A-41EA-9650-F8215D949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148EE7C-8DC4-4A31-A981-8F838EA8FA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7F7EC5C-3015-4A5E-A9E3-B53F5293D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D7AF31F-4674-411A-837A-ED991478D2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D3DAED2-414E-42E1-998A-6D7EF4A4D0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7" name="Right Triangle 46">
            <a:extLst>
              <a:ext uri="{FF2B5EF4-FFF2-40B4-BE49-F238E27FC236}">
                <a16:creationId xmlns:a16="http://schemas.microsoft.com/office/drawing/2014/main" id="{9E92C66B-792F-479F-B983-F47FEE1AB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0C1184C-7473-B8BF-F293-67160C0F1058}"/>
              </a:ext>
            </a:extLst>
          </p:cNvPr>
          <p:cNvSpPr>
            <a:spLocks noGrp="1"/>
          </p:cNvSpPr>
          <p:nvPr>
            <p:ph type="title"/>
          </p:nvPr>
        </p:nvSpPr>
        <p:spPr>
          <a:xfrm>
            <a:off x="691079" y="725951"/>
            <a:ext cx="5408027" cy="1442463"/>
          </a:xfrm>
        </p:spPr>
        <p:txBody>
          <a:bodyPr>
            <a:normAutofit/>
          </a:bodyPr>
          <a:lstStyle/>
          <a:p>
            <a:r>
              <a:rPr lang="en-US" dirty="0"/>
              <a:t>Recommendations</a:t>
            </a:r>
            <a:br>
              <a:rPr lang="en-US" dirty="0"/>
            </a:br>
            <a:endParaRPr lang="en-US" dirty="0"/>
          </a:p>
        </p:txBody>
      </p:sp>
      <p:sp>
        <p:nvSpPr>
          <p:cNvPr id="3" name="Content Placeholder 2">
            <a:extLst>
              <a:ext uri="{FF2B5EF4-FFF2-40B4-BE49-F238E27FC236}">
                <a16:creationId xmlns:a16="http://schemas.microsoft.com/office/drawing/2014/main" id="{21B04D7D-A381-8B05-44E5-C56E0CA9C4D5}"/>
              </a:ext>
            </a:extLst>
          </p:cNvPr>
          <p:cNvSpPr>
            <a:spLocks noGrp="1"/>
          </p:cNvSpPr>
          <p:nvPr>
            <p:ph idx="1"/>
          </p:nvPr>
        </p:nvSpPr>
        <p:spPr>
          <a:xfrm>
            <a:off x="691079" y="2075936"/>
            <a:ext cx="4424633" cy="4056113"/>
          </a:xfrm>
        </p:spPr>
        <p:txBody>
          <a:bodyPr>
            <a:normAutofit fontScale="92500" lnSpcReduction="20000"/>
          </a:bodyPr>
          <a:lstStyle/>
          <a:p>
            <a:r>
              <a:rPr lang="en-US" dirty="0"/>
              <a:t>Prioritize efficient scoring strategies, especially improving shot selection</a:t>
            </a:r>
          </a:p>
          <a:p>
            <a:r>
              <a:rPr lang="en-US" dirty="0"/>
              <a:t>Focus on reducing turnovers through better decision-making and ball control</a:t>
            </a:r>
          </a:p>
          <a:p>
            <a:r>
              <a:rPr lang="en-US" dirty="0"/>
              <a:t>Avoid over-reliance on shot volume without efficiency</a:t>
            </a:r>
          </a:p>
          <a:p>
            <a:r>
              <a:rPr lang="en-US" dirty="0"/>
              <a:t>Use data analytics to optimize offensive strategies and performance</a:t>
            </a:r>
          </a:p>
          <a:p>
            <a:r>
              <a:rPr lang="en-US" dirty="0"/>
              <a:t>Focus less on volume stats and more on efficiency metrics</a:t>
            </a:r>
          </a:p>
          <a:p>
            <a:endParaRPr lang="en-US" dirty="0"/>
          </a:p>
        </p:txBody>
      </p:sp>
      <p:pic>
        <p:nvPicPr>
          <p:cNvPr id="5" name="Picture 4" descr="A graph with blue rectangles&#10;&#10;AI-generated content may be incorrect.">
            <a:extLst>
              <a:ext uri="{FF2B5EF4-FFF2-40B4-BE49-F238E27FC236}">
                <a16:creationId xmlns:a16="http://schemas.microsoft.com/office/drawing/2014/main" id="{8A77A791-1942-0482-4E16-C1896048988C}"/>
              </a:ext>
            </a:extLst>
          </p:cNvPr>
          <p:cNvPicPr>
            <a:picLocks noChangeAspect="1"/>
          </p:cNvPicPr>
          <p:nvPr/>
        </p:nvPicPr>
        <p:blipFill>
          <a:blip r:embed="rId2"/>
          <a:stretch>
            <a:fillRect/>
          </a:stretch>
        </p:blipFill>
        <p:spPr>
          <a:xfrm>
            <a:off x="7082499" y="1809444"/>
            <a:ext cx="4798140" cy="3406679"/>
          </a:xfrm>
          <a:prstGeom prst="rect">
            <a:avLst/>
          </a:prstGeom>
        </p:spPr>
      </p:pic>
    </p:spTree>
    <p:extLst>
      <p:ext uri="{BB962C8B-B14F-4D97-AF65-F5344CB8AC3E}">
        <p14:creationId xmlns:p14="http://schemas.microsoft.com/office/powerpoint/2010/main" val="104550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 name="Group 11">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Right Triangle 44">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B125F7-8F1D-1706-A479-5FB2EBFFEF73}"/>
              </a:ext>
            </a:extLst>
          </p:cNvPr>
          <p:cNvSpPr>
            <a:spLocks noGrp="1"/>
          </p:cNvSpPr>
          <p:nvPr>
            <p:ph type="title"/>
          </p:nvPr>
        </p:nvSpPr>
        <p:spPr>
          <a:xfrm>
            <a:off x="691079" y="725952"/>
            <a:ext cx="4038652" cy="1881178"/>
          </a:xfrm>
        </p:spPr>
        <p:txBody>
          <a:bodyPr>
            <a:normAutofit/>
          </a:bodyPr>
          <a:lstStyle/>
          <a:p>
            <a:r>
              <a:rPr lang="en-US" dirty="0"/>
              <a:t>Conclusion</a:t>
            </a:r>
          </a:p>
        </p:txBody>
      </p:sp>
      <p:sp>
        <p:nvSpPr>
          <p:cNvPr id="3" name="Content Placeholder 2">
            <a:extLst>
              <a:ext uri="{FF2B5EF4-FFF2-40B4-BE49-F238E27FC236}">
                <a16:creationId xmlns:a16="http://schemas.microsoft.com/office/drawing/2014/main" id="{D75B9D91-C8BD-2D87-6253-D388F44B6924}"/>
              </a:ext>
            </a:extLst>
          </p:cNvPr>
          <p:cNvSpPr>
            <a:spLocks noGrp="1"/>
          </p:cNvSpPr>
          <p:nvPr>
            <p:ph idx="1"/>
          </p:nvPr>
        </p:nvSpPr>
        <p:spPr>
          <a:xfrm>
            <a:off x="691079" y="2886117"/>
            <a:ext cx="4038652" cy="3276824"/>
          </a:xfrm>
        </p:spPr>
        <p:txBody>
          <a:bodyPr>
            <a:normAutofit fontScale="85000" lnSpcReduction="10000"/>
          </a:bodyPr>
          <a:lstStyle/>
          <a:p>
            <a:r>
              <a:rPr lang="en-US" dirty="0"/>
              <a:t>Shooting efficiency metrics are the strongest predictors of team success in the NBA. While turnovers negatively impact performance and rebounds provide some value, efficient scoring remains the most important factor for winning games.</a:t>
            </a:r>
          </a:p>
          <a:p>
            <a:r>
              <a:rPr lang="en-US" dirty="0"/>
              <a:t>These results highlight that modern basketball success is driven more by efficiency and decision-making than by volume-based statistics.</a:t>
            </a:r>
          </a:p>
          <a:p>
            <a:endParaRPr lang="en-US" dirty="0"/>
          </a:p>
          <a:p>
            <a:endParaRPr lang="en-US" dirty="0"/>
          </a:p>
        </p:txBody>
      </p:sp>
      <p:pic>
        <p:nvPicPr>
          <p:cNvPr id="5" name="Picture 4" descr="A graph with red and green bars&#10;&#10;AI-generated content may be incorrect.">
            <a:extLst>
              <a:ext uri="{FF2B5EF4-FFF2-40B4-BE49-F238E27FC236}">
                <a16:creationId xmlns:a16="http://schemas.microsoft.com/office/drawing/2014/main" id="{B3A202C5-9A5E-8F2A-2B65-BD3049AFCBE4}"/>
              </a:ext>
            </a:extLst>
          </p:cNvPr>
          <p:cNvPicPr>
            <a:picLocks noChangeAspect="1"/>
          </p:cNvPicPr>
          <p:nvPr/>
        </p:nvPicPr>
        <p:blipFill>
          <a:blip r:embed="rId2"/>
          <a:stretch>
            <a:fillRect/>
          </a:stretch>
        </p:blipFill>
        <p:spPr>
          <a:xfrm>
            <a:off x="5106333" y="1331900"/>
            <a:ext cx="6401443" cy="4208948"/>
          </a:xfrm>
          <a:prstGeom prst="rect">
            <a:avLst/>
          </a:prstGeom>
        </p:spPr>
      </p:pic>
    </p:spTree>
    <p:extLst>
      <p:ext uri="{BB962C8B-B14F-4D97-AF65-F5344CB8AC3E}">
        <p14:creationId xmlns:p14="http://schemas.microsoft.com/office/powerpoint/2010/main" val="2775634084"/>
      </p:ext>
    </p:extLst>
  </p:cSld>
  <p:clrMapOvr>
    <a:masterClrMapping/>
  </p:clrMapOvr>
</p:sld>
</file>

<file path=ppt/theme/theme1.xml><?xml version="1.0" encoding="utf-8"?>
<a:theme xmlns:a="http://schemas.openxmlformats.org/drawingml/2006/main" name="CosineVTI">
  <a:themeElements>
    <a:clrScheme name="Custom 133">
      <a:dk1>
        <a:sysClr val="windowText" lastClr="000000"/>
      </a:dk1>
      <a:lt1>
        <a:sysClr val="window" lastClr="FFFFFF"/>
      </a:lt1>
      <a:dk2>
        <a:srgbClr val="2A2735"/>
      </a:dk2>
      <a:lt2>
        <a:srgbClr val="EEEEEE"/>
      </a:lt2>
      <a:accent1>
        <a:srgbClr val="1EBE9B"/>
      </a:accent1>
      <a:accent2>
        <a:srgbClr val="8F99BB"/>
      </a:accent2>
      <a:accent3>
        <a:srgbClr val="FD8686"/>
      </a:accent3>
      <a:accent4>
        <a:srgbClr val="A3A3C1"/>
      </a:accent4>
      <a:accent5>
        <a:srgbClr val="7162FE"/>
      </a:accent5>
      <a:accent6>
        <a:srgbClr val="E76445"/>
      </a:accent6>
      <a:hlink>
        <a:srgbClr val="EF08F7"/>
      </a:hlink>
      <a:folHlink>
        <a:srgbClr val="8477FE"/>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Props/app.xml><?xml version="1.0" encoding="utf-8"?>
<Properties xmlns="http://schemas.openxmlformats.org/officeDocument/2006/extended-properties" xmlns:vt="http://schemas.openxmlformats.org/officeDocument/2006/docPropsVTypes">
  <TotalTime>1228</TotalTime>
  <Words>627</Words>
  <Application>Microsoft Macintosh PowerPoint</Application>
  <PresentationFormat>Widescreen</PresentationFormat>
  <Paragraphs>86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Grandview</vt:lpstr>
      <vt:lpstr>Wingdings</vt:lpstr>
      <vt:lpstr>CosineVTI</vt:lpstr>
      <vt:lpstr>NBA Performance analysis </vt:lpstr>
      <vt:lpstr>Dataset Overview</vt:lpstr>
      <vt:lpstr>Key Variables</vt:lpstr>
      <vt:lpstr>Research Questions</vt:lpstr>
      <vt:lpstr>Correlation with Winning Percentage</vt:lpstr>
      <vt:lpstr>Regression Results</vt:lpstr>
      <vt:lpstr>Comparing Performance Factors </vt:lpstr>
      <vt:lpstr>Key Insights</vt:lpstr>
      <vt:lpstr>Recommendations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Bastawy,Youssef</dc:creator>
  <cp:lastModifiedBy>Bastawy,Youssef</cp:lastModifiedBy>
  <cp:revision>1</cp:revision>
  <dcterms:created xsi:type="dcterms:W3CDTF">2026-03-20T02:06:01Z</dcterms:created>
  <dcterms:modified xsi:type="dcterms:W3CDTF">2026-03-20T22:34:38Z</dcterms:modified>
</cp:coreProperties>
</file>